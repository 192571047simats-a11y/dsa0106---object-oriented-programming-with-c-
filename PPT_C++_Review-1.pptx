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 /><Relationship Id="rId2" Type="http://schemas.openxmlformats.org/package/2006/relationships/metadata/thumbnail" Target="docProps/thumbnail.jpeg" /><Relationship Id="rId1" Type="http://schemas.openxmlformats.org/officeDocument/2006/relationships/officeDocument" Target="ppt/presentation.xml" /><Relationship Id="rId4"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5"/>
  </p:notesMasterIdLst>
  <p:sldIdLst>
    <p:sldId id="257" r:id="rId2"/>
    <p:sldId id="265" r:id="rId3"/>
    <p:sldId id="258" r:id="rId4"/>
    <p:sldId id="259" r:id="rId5"/>
    <p:sldId id="266" r:id="rId6"/>
    <p:sldId id="284" r:id="rId7"/>
    <p:sldId id="285" r:id="rId8"/>
    <p:sldId id="287" r:id="rId9"/>
    <p:sldId id="269" r:id="rId10"/>
    <p:sldId id="276" r:id="rId11"/>
    <p:sldId id="271" r:id="rId12"/>
    <p:sldId id="278" r:id="rId13"/>
    <p:sldId id="270" r:id="rId14"/>
    <p:sldId id="279" r:id="rId15"/>
    <p:sldId id="272" r:id="rId16"/>
    <p:sldId id="277" r:id="rId17"/>
    <p:sldId id="280" r:id="rId18"/>
    <p:sldId id="283" r:id="rId19"/>
    <p:sldId id="282" r:id="rId20"/>
    <p:sldId id="281" r:id="rId21"/>
    <p:sldId id="273" r:id="rId22"/>
    <p:sldId id="286" r:id="rId23"/>
    <p:sldId id="275"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249" autoAdjust="0"/>
    <p:restoredTop sz="94660"/>
  </p:normalViewPr>
  <p:slideViewPr>
    <p:cSldViewPr snapToGrid="0">
      <p:cViewPr>
        <p:scale>
          <a:sx n="75" d="100"/>
          <a:sy n="75" d="100"/>
        </p:scale>
        <p:origin x="681" y="225"/>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 /><Relationship Id="rId13" Type="http://schemas.openxmlformats.org/officeDocument/2006/relationships/slide" Target="slides/slide12.xml" /><Relationship Id="rId18" Type="http://schemas.openxmlformats.org/officeDocument/2006/relationships/slide" Target="slides/slide17.xml" /><Relationship Id="rId26" Type="http://schemas.openxmlformats.org/officeDocument/2006/relationships/presProps" Target="presProps.xml" /><Relationship Id="rId3" Type="http://schemas.openxmlformats.org/officeDocument/2006/relationships/slide" Target="slides/slide2.xml" /><Relationship Id="rId21" Type="http://schemas.openxmlformats.org/officeDocument/2006/relationships/slide" Target="slides/slide20.xml" /><Relationship Id="rId7" Type="http://schemas.openxmlformats.org/officeDocument/2006/relationships/slide" Target="slides/slide6.xml" /><Relationship Id="rId12" Type="http://schemas.openxmlformats.org/officeDocument/2006/relationships/slide" Target="slides/slide11.xml" /><Relationship Id="rId17" Type="http://schemas.openxmlformats.org/officeDocument/2006/relationships/slide" Target="slides/slide16.xml" /><Relationship Id="rId25" Type="http://schemas.openxmlformats.org/officeDocument/2006/relationships/notesMaster" Target="notesMasters/notesMaster1.xml" /><Relationship Id="rId2" Type="http://schemas.openxmlformats.org/officeDocument/2006/relationships/slide" Target="slides/slide1.xml" /><Relationship Id="rId16" Type="http://schemas.openxmlformats.org/officeDocument/2006/relationships/slide" Target="slides/slide15.xml" /><Relationship Id="rId20" Type="http://schemas.openxmlformats.org/officeDocument/2006/relationships/slide" Target="slides/slide19.xml" /><Relationship Id="rId29" Type="http://schemas.openxmlformats.org/officeDocument/2006/relationships/tableStyles" Target="tableStyles.xml"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slide" Target="slides/slide10.xml" /><Relationship Id="rId24" Type="http://schemas.openxmlformats.org/officeDocument/2006/relationships/slide" Target="slides/slide23.xml" /><Relationship Id="rId5" Type="http://schemas.openxmlformats.org/officeDocument/2006/relationships/slide" Target="slides/slide4.xml" /><Relationship Id="rId15" Type="http://schemas.openxmlformats.org/officeDocument/2006/relationships/slide" Target="slides/slide14.xml" /><Relationship Id="rId23" Type="http://schemas.openxmlformats.org/officeDocument/2006/relationships/slide" Target="slides/slide22.xml" /><Relationship Id="rId28" Type="http://schemas.openxmlformats.org/officeDocument/2006/relationships/theme" Target="theme/theme1.xml" /><Relationship Id="rId10" Type="http://schemas.openxmlformats.org/officeDocument/2006/relationships/slide" Target="slides/slide9.xml" /><Relationship Id="rId19" Type="http://schemas.openxmlformats.org/officeDocument/2006/relationships/slide" Target="slides/slide18.xml" /><Relationship Id="rId4" Type="http://schemas.openxmlformats.org/officeDocument/2006/relationships/slide" Target="slides/slide3.xml" /><Relationship Id="rId9" Type="http://schemas.openxmlformats.org/officeDocument/2006/relationships/slide" Target="slides/slide8.xml" /><Relationship Id="rId14" Type="http://schemas.openxmlformats.org/officeDocument/2006/relationships/slide" Target="slides/slide13.xml" /><Relationship Id="rId22" Type="http://schemas.openxmlformats.org/officeDocument/2006/relationships/slide" Target="slides/slide21.xml" /><Relationship Id="rId27" Type="http://schemas.openxmlformats.org/officeDocument/2006/relationships/viewProps" Target="viewProps.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426B92C-D14D-41BE-8D4A-E1806DB976A6}" type="datetimeFigureOut">
              <a:rPr lang="en-IN" smtClean="0"/>
              <a:t>26-10-2026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76387C1-F898-4941-96C1-FE4434DFF0F6}" type="slidenum">
              <a:rPr lang="en-IN" smtClean="0"/>
              <a:t>‹#›</a:t>
            </a:fld>
            <a:endParaRPr lang="en-IN"/>
          </a:p>
        </p:txBody>
      </p:sp>
    </p:spTree>
    <p:extLst>
      <p:ext uri="{BB962C8B-B14F-4D97-AF65-F5344CB8AC3E}">
        <p14:creationId xmlns:p14="http://schemas.microsoft.com/office/powerpoint/2010/main" val="10741800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76387C1-F898-4941-96C1-FE4434DFF0F6}" type="slidenum">
              <a:rPr lang="en-IN" smtClean="0"/>
              <a:t>3</a:t>
            </a:fld>
            <a:endParaRPr lang="en-IN"/>
          </a:p>
        </p:txBody>
      </p:sp>
    </p:spTree>
    <p:extLst>
      <p:ext uri="{BB962C8B-B14F-4D97-AF65-F5344CB8AC3E}">
        <p14:creationId xmlns:p14="http://schemas.microsoft.com/office/powerpoint/2010/main" val="3603918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688B2-04BF-6B91-A64A-1953694B679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6A5F7E9E-2D0E-D399-7C9C-72831B61BF9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EF37626C-8FD3-92DE-2B01-E8C841734124}"/>
              </a:ext>
            </a:extLst>
          </p:cNvPr>
          <p:cNvSpPr>
            <a:spLocks noGrp="1"/>
          </p:cNvSpPr>
          <p:nvPr>
            <p:ph type="dt" sz="half" idx="10"/>
          </p:nvPr>
        </p:nvSpPr>
        <p:spPr/>
        <p:txBody>
          <a:bodyPr/>
          <a:lstStyle/>
          <a:p>
            <a:fld id="{81717E30-FB5D-4AC6-B6CB-07E1275C2603}" type="datetimeFigureOut">
              <a:rPr lang="en-IN" smtClean="0"/>
              <a:t>26-10-2026</a:t>
            </a:fld>
            <a:endParaRPr lang="en-IN"/>
          </a:p>
        </p:txBody>
      </p:sp>
      <p:sp>
        <p:nvSpPr>
          <p:cNvPr id="5" name="Footer Placeholder 4">
            <a:extLst>
              <a:ext uri="{FF2B5EF4-FFF2-40B4-BE49-F238E27FC236}">
                <a16:creationId xmlns:a16="http://schemas.microsoft.com/office/drawing/2014/main" id="{3CD1229D-62CC-F3D4-B78E-CA36C3CDC6E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561F8E6-88F2-6B24-12BB-7F42F8D2202F}"/>
              </a:ext>
            </a:extLst>
          </p:cNvPr>
          <p:cNvSpPr>
            <a:spLocks noGrp="1"/>
          </p:cNvSpPr>
          <p:nvPr>
            <p:ph type="sldNum" sz="quarter" idx="12"/>
          </p:nvPr>
        </p:nvSpPr>
        <p:spPr/>
        <p:txBody>
          <a:bodyPr/>
          <a:lstStyle/>
          <a:p>
            <a:fld id="{9369D144-F5D9-4F04-80D7-C9542DC11562}" type="slidenum">
              <a:rPr lang="en-IN" smtClean="0"/>
              <a:t>‹#›</a:t>
            </a:fld>
            <a:endParaRPr lang="en-IN"/>
          </a:p>
        </p:txBody>
      </p:sp>
    </p:spTree>
    <p:extLst>
      <p:ext uri="{BB962C8B-B14F-4D97-AF65-F5344CB8AC3E}">
        <p14:creationId xmlns:p14="http://schemas.microsoft.com/office/powerpoint/2010/main" val="41403180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6C9AA5-16D5-BDCE-8336-923183308A3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4A8D8B69-BBDF-1B37-5BEF-5C341D25049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FEAF4E6-0633-02C3-7257-0953F52D7637}"/>
              </a:ext>
            </a:extLst>
          </p:cNvPr>
          <p:cNvSpPr>
            <a:spLocks noGrp="1"/>
          </p:cNvSpPr>
          <p:nvPr>
            <p:ph type="dt" sz="half" idx="10"/>
          </p:nvPr>
        </p:nvSpPr>
        <p:spPr/>
        <p:txBody>
          <a:bodyPr/>
          <a:lstStyle/>
          <a:p>
            <a:fld id="{81717E30-FB5D-4AC6-B6CB-07E1275C2603}" type="datetimeFigureOut">
              <a:rPr lang="en-IN" smtClean="0"/>
              <a:t>26-10-2026</a:t>
            </a:fld>
            <a:endParaRPr lang="en-IN"/>
          </a:p>
        </p:txBody>
      </p:sp>
      <p:sp>
        <p:nvSpPr>
          <p:cNvPr id="5" name="Footer Placeholder 4">
            <a:extLst>
              <a:ext uri="{FF2B5EF4-FFF2-40B4-BE49-F238E27FC236}">
                <a16:creationId xmlns:a16="http://schemas.microsoft.com/office/drawing/2014/main" id="{B419AE60-4A6F-4AE6-65DB-E88FE6EF8B5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5A6BBA9-09C8-DD15-40C7-761BA5CEDD9E}"/>
              </a:ext>
            </a:extLst>
          </p:cNvPr>
          <p:cNvSpPr>
            <a:spLocks noGrp="1"/>
          </p:cNvSpPr>
          <p:nvPr>
            <p:ph type="sldNum" sz="quarter" idx="12"/>
          </p:nvPr>
        </p:nvSpPr>
        <p:spPr/>
        <p:txBody>
          <a:bodyPr/>
          <a:lstStyle/>
          <a:p>
            <a:fld id="{9369D144-F5D9-4F04-80D7-C9542DC11562}" type="slidenum">
              <a:rPr lang="en-IN" smtClean="0"/>
              <a:t>‹#›</a:t>
            </a:fld>
            <a:endParaRPr lang="en-IN"/>
          </a:p>
        </p:txBody>
      </p:sp>
    </p:spTree>
    <p:extLst>
      <p:ext uri="{BB962C8B-B14F-4D97-AF65-F5344CB8AC3E}">
        <p14:creationId xmlns:p14="http://schemas.microsoft.com/office/powerpoint/2010/main" val="27471020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003F4C-4CA0-50F9-D412-3FC4612971F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28DF0E7A-2645-F876-F9D8-B6E91134A30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B7655F7-A18C-FF98-14BE-308C8C6E48E3}"/>
              </a:ext>
            </a:extLst>
          </p:cNvPr>
          <p:cNvSpPr>
            <a:spLocks noGrp="1"/>
          </p:cNvSpPr>
          <p:nvPr>
            <p:ph type="dt" sz="half" idx="10"/>
          </p:nvPr>
        </p:nvSpPr>
        <p:spPr/>
        <p:txBody>
          <a:bodyPr/>
          <a:lstStyle/>
          <a:p>
            <a:fld id="{81717E30-FB5D-4AC6-B6CB-07E1275C2603}" type="datetimeFigureOut">
              <a:rPr lang="en-IN" smtClean="0"/>
              <a:t>26-10-2026</a:t>
            </a:fld>
            <a:endParaRPr lang="en-IN"/>
          </a:p>
        </p:txBody>
      </p:sp>
      <p:sp>
        <p:nvSpPr>
          <p:cNvPr id="5" name="Footer Placeholder 4">
            <a:extLst>
              <a:ext uri="{FF2B5EF4-FFF2-40B4-BE49-F238E27FC236}">
                <a16:creationId xmlns:a16="http://schemas.microsoft.com/office/drawing/2014/main" id="{D443A8E4-F5D0-D99A-8828-2AA221C97D1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299D629-0D07-83CE-C5E0-004AF83C4DC7}"/>
              </a:ext>
            </a:extLst>
          </p:cNvPr>
          <p:cNvSpPr>
            <a:spLocks noGrp="1"/>
          </p:cNvSpPr>
          <p:nvPr>
            <p:ph type="sldNum" sz="quarter" idx="12"/>
          </p:nvPr>
        </p:nvSpPr>
        <p:spPr/>
        <p:txBody>
          <a:bodyPr/>
          <a:lstStyle/>
          <a:p>
            <a:fld id="{9369D144-F5D9-4F04-80D7-C9542DC11562}" type="slidenum">
              <a:rPr lang="en-IN" smtClean="0"/>
              <a:t>‹#›</a:t>
            </a:fld>
            <a:endParaRPr lang="en-IN"/>
          </a:p>
        </p:txBody>
      </p:sp>
    </p:spTree>
    <p:extLst>
      <p:ext uri="{BB962C8B-B14F-4D97-AF65-F5344CB8AC3E}">
        <p14:creationId xmlns:p14="http://schemas.microsoft.com/office/powerpoint/2010/main" val="6292558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181F59-57D9-52E3-49F2-A25BA6E87F1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E551E633-8CAD-1349-8CEB-B6128432190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9D332A52-E23E-BA16-FC4D-3EE04E25675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F796819C-E4A4-FE56-DDB4-A5BB4A52C90C}"/>
              </a:ext>
            </a:extLst>
          </p:cNvPr>
          <p:cNvSpPr>
            <a:spLocks noGrp="1"/>
          </p:cNvSpPr>
          <p:nvPr>
            <p:ph type="dt" sz="half" idx="10"/>
          </p:nvPr>
        </p:nvSpPr>
        <p:spPr/>
        <p:txBody>
          <a:bodyPr/>
          <a:lstStyle/>
          <a:p>
            <a:fld id="{81717E30-FB5D-4AC6-B6CB-07E1275C2603}" type="datetimeFigureOut">
              <a:rPr lang="en-IN" smtClean="0"/>
              <a:t>26-10-2026</a:t>
            </a:fld>
            <a:endParaRPr lang="en-IN"/>
          </a:p>
        </p:txBody>
      </p:sp>
      <p:sp>
        <p:nvSpPr>
          <p:cNvPr id="6" name="Footer Placeholder 5">
            <a:extLst>
              <a:ext uri="{FF2B5EF4-FFF2-40B4-BE49-F238E27FC236}">
                <a16:creationId xmlns:a16="http://schemas.microsoft.com/office/drawing/2014/main" id="{86A18E1A-FA95-24E7-1353-EA23C696777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0DBD92A-2ACC-16A9-4065-0CEB17CBF3C7}"/>
              </a:ext>
            </a:extLst>
          </p:cNvPr>
          <p:cNvSpPr>
            <a:spLocks noGrp="1"/>
          </p:cNvSpPr>
          <p:nvPr>
            <p:ph type="sldNum" sz="quarter" idx="12"/>
          </p:nvPr>
        </p:nvSpPr>
        <p:spPr/>
        <p:txBody>
          <a:bodyPr/>
          <a:lstStyle/>
          <a:p>
            <a:fld id="{9369D144-F5D9-4F04-80D7-C9542DC11562}" type="slidenum">
              <a:rPr lang="en-IN" smtClean="0"/>
              <a:t>‹#›</a:t>
            </a:fld>
            <a:endParaRPr lang="en-IN"/>
          </a:p>
        </p:txBody>
      </p:sp>
    </p:spTree>
    <p:extLst>
      <p:ext uri="{BB962C8B-B14F-4D97-AF65-F5344CB8AC3E}">
        <p14:creationId xmlns:p14="http://schemas.microsoft.com/office/powerpoint/2010/main" val="109543305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81FBBE-952A-C7CF-05A1-10F2F7AD1559}"/>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2EEF266-654E-AD2C-4D2F-F61B5311139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25373BE-B4D3-2B94-9C23-7F2A5531EF7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DA0CAC60-BC2A-0632-1287-AD7FF296311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0C1F22D-37FF-8201-F857-2F5AD49B02B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095E62D9-6462-696A-07A4-E6BE9972CFFF}"/>
              </a:ext>
            </a:extLst>
          </p:cNvPr>
          <p:cNvSpPr>
            <a:spLocks noGrp="1"/>
          </p:cNvSpPr>
          <p:nvPr>
            <p:ph type="dt" sz="half" idx="10"/>
          </p:nvPr>
        </p:nvSpPr>
        <p:spPr/>
        <p:txBody>
          <a:bodyPr/>
          <a:lstStyle/>
          <a:p>
            <a:fld id="{81717E30-FB5D-4AC6-B6CB-07E1275C2603}" type="datetimeFigureOut">
              <a:rPr lang="en-IN" smtClean="0"/>
              <a:t>26-10-2026</a:t>
            </a:fld>
            <a:endParaRPr lang="en-IN"/>
          </a:p>
        </p:txBody>
      </p:sp>
      <p:sp>
        <p:nvSpPr>
          <p:cNvPr id="8" name="Footer Placeholder 7">
            <a:extLst>
              <a:ext uri="{FF2B5EF4-FFF2-40B4-BE49-F238E27FC236}">
                <a16:creationId xmlns:a16="http://schemas.microsoft.com/office/drawing/2014/main" id="{2AB7ABD2-2D95-4B56-42EB-86B3F61299AE}"/>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0E83E695-C581-8CD2-31A8-A93667498A96}"/>
              </a:ext>
            </a:extLst>
          </p:cNvPr>
          <p:cNvSpPr>
            <a:spLocks noGrp="1"/>
          </p:cNvSpPr>
          <p:nvPr>
            <p:ph type="sldNum" sz="quarter" idx="12"/>
          </p:nvPr>
        </p:nvSpPr>
        <p:spPr/>
        <p:txBody>
          <a:bodyPr/>
          <a:lstStyle/>
          <a:p>
            <a:fld id="{9369D144-F5D9-4F04-80D7-C9542DC11562}" type="slidenum">
              <a:rPr lang="en-IN" smtClean="0"/>
              <a:t>‹#›</a:t>
            </a:fld>
            <a:endParaRPr lang="en-IN"/>
          </a:p>
        </p:txBody>
      </p:sp>
    </p:spTree>
    <p:extLst>
      <p:ext uri="{BB962C8B-B14F-4D97-AF65-F5344CB8AC3E}">
        <p14:creationId xmlns:p14="http://schemas.microsoft.com/office/powerpoint/2010/main" val="4792139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99BE05-7FE2-0AC4-C096-D35F2AFA74B6}"/>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91DDE994-42D2-CE64-3BC3-DF7EC1F28D4D}"/>
              </a:ext>
            </a:extLst>
          </p:cNvPr>
          <p:cNvSpPr>
            <a:spLocks noGrp="1"/>
          </p:cNvSpPr>
          <p:nvPr>
            <p:ph type="dt" sz="half" idx="10"/>
          </p:nvPr>
        </p:nvSpPr>
        <p:spPr/>
        <p:txBody>
          <a:bodyPr/>
          <a:lstStyle/>
          <a:p>
            <a:fld id="{81717E30-FB5D-4AC6-B6CB-07E1275C2603}" type="datetimeFigureOut">
              <a:rPr lang="en-IN" smtClean="0"/>
              <a:t>26-10-2026</a:t>
            </a:fld>
            <a:endParaRPr lang="en-IN"/>
          </a:p>
        </p:txBody>
      </p:sp>
      <p:sp>
        <p:nvSpPr>
          <p:cNvPr id="4" name="Footer Placeholder 3">
            <a:extLst>
              <a:ext uri="{FF2B5EF4-FFF2-40B4-BE49-F238E27FC236}">
                <a16:creationId xmlns:a16="http://schemas.microsoft.com/office/drawing/2014/main" id="{D02C47A3-E266-500E-10F8-7522EF9ACBE8}"/>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4FCE9B6D-6B34-018D-7419-77F990238765}"/>
              </a:ext>
            </a:extLst>
          </p:cNvPr>
          <p:cNvSpPr>
            <a:spLocks noGrp="1"/>
          </p:cNvSpPr>
          <p:nvPr>
            <p:ph type="sldNum" sz="quarter" idx="12"/>
          </p:nvPr>
        </p:nvSpPr>
        <p:spPr/>
        <p:txBody>
          <a:bodyPr/>
          <a:lstStyle/>
          <a:p>
            <a:fld id="{9369D144-F5D9-4F04-80D7-C9542DC11562}" type="slidenum">
              <a:rPr lang="en-IN" smtClean="0"/>
              <a:t>‹#›</a:t>
            </a:fld>
            <a:endParaRPr lang="en-IN"/>
          </a:p>
        </p:txBody>
      </p:sp>
    </p:spTree>
    <p:extLst>
      <p:ext uri="{BB962C8B-B14F-4D97-AF65-F5344CB8AC3E}">
        <p14:creationId xmlns:p14="http://schemas.microsoft.com/office/powerpoint/2010/main" val="357903675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1109883-3E58-EDAC-61D3-DE4D97FC66EF}"/>
              </a:ext>
            </a:extLst>
          </p:cNvPr>
          <p:cNvSpPr>
            <a:spLocks noGrp="1"/>
          </p:cNvSpPr>
          <p:nvPr>
            <p:ph type="dt" sz="half" idx="10"/>
          </p:nvPr>
        </p:nvSpPr>
        <p:spPr/>
        <p:txBody>
          <a:bodyPr/>
          <a:lstStyle/>
          <a:p>
            <a:fld id="{81717E30-FB5D-4AC6-B6CB-07E1275C2603}" type="datetimeFigureOut">
              <a:rPr lang="en-IN" smtClean="0"/>
              <a:t>26-10-2026</a:t>
            </a:fld>
            <a:endParaRPr lang="en-IN"/>
          </a:p>
        </p:txBody>
      </p:sp>
      <p:sp>
        <p:nvSpPr>
          <p:cNvPr id="3" name="Footer Placeholder 2">
            <a:extLst>
              <a:ext uri="{FF2B5EF4-FFF2-40B4-BE49-F238E27FC236}">
                <a16:creationId xmlns:a16="http://schemas.microsoft.com/office/drawing/2014/main" id="{68682B51-1A6A-A472-4F6D-5D0B76EA3343}"/>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950EC7D4-3EBF-F0A5-1BDA-EA90E3116776}"/>
              </a:ext>
            </a:extLst>
          </p:cNvPr>
          <p:cNvSpPr>
            <a:spLocks noGrp="1"/>
          </p:cNvSpPr>
          <p:nvPr>
            <p:ph type="sldNum" sz="quarter" idx="12"/>
          </p:nvPr>
        </p:nvSpPr>
        <p:spPr/>
        <p:txBody>
          <a:bodyPr/>
          <a:lstStyle/>
          <a:p>
            <a:fld id="{9369D144-F5D9-4F04-80D7-C9542DC11562}" type="slidenum">
              <a:rPr lang="en-IN" smtClean="0"/>
              <a:t>‹#›</a:t>
            </a:fld>
            <a:endParaRPr lang="en-IN"/>
          </a:p>
        </p:txBody>
      </p:sp>
    </p:spTree>
    <p:extLst>
      <p:ext uri="{BB962C8B-B14F-4D97-AF65-F5344CB8AC3E}">
        <p14:creationId xmlns:p14="http://schemas.microsoft.com/office/powerpoint/2010/main" val="11304802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053125-552D-EF29-D70E-23288133FC6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BA9F662D-1F36-B07F-C161-631759800B3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55768A2E-3105-EE45-2C06-9908B8F579C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89A2DDB-7826-7D3F-48D4-5D76E91A5812}"/>
              </a:ext>
            </a:extLst>
          </p:cNvPr>
          <p:cNvSpPr>
            <a:spLocks noGrp="1"/>
          </p:cNvSpPr>
          <p:nvPr>
            <p:ph type="dt" sz="half" idx="10"/>
          </p:nvPr>
        </p:nvSpPr>
        <p:spPr/>
        <p:txBody>
          <a:bodyPr/>
          <a:lstStyle/>
          <a:p>
            <a:fld id="{81717E30-FB5D-4AC6-B6CB-07E1275C2603}" type="datetimeFigureOut">
              <a:rPr lang="en-IN" smtClean="0"/>
              <a:t>26-10-2026</a:t>
            </a:fld>
            <a:endParaRPr lang="en-IN"/>
          </a:p>
        </p:txBody>
      </p:sp>
      <p:sp>
        <p:nvSpPr>
          <p:cNvPr id="6" name="Footer Placeholder 5">
            <a:extLst>
              <a:ext uri="{FF2B5EF4-FFF2-40B4-BE49-F238E27FC236}">
                <a16:creationId xmlns:a16="http://schemas.microsoft.com/office/drawing/2014/main" id="{786F9632-3ABF-825A-A1D2-8FA7B4E316E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F055DDD-B6FD-9BE8-ECEF-4647FF304BD1}"/>
              </a:ext>
            </a:extLst>
          </p:cNvPr>
          <p:cNvSpPr>
            <a:spLocks noGrp="1"/>
          </p:cNvSpPr>
          <p:nvPr>
            <p:ph type="sldNum" sz="quarter" idx="12"/>
          </p:nvPr>
        </p:nvSpPr>
        <p:spPr/>
        <p:txBody>
          <a:bodyPr/>
          <a:lstStyle/>
          <a:p>
            <a:fld id="{9369D144-F5D9-4F04-80D7-C9542DC11562}" type="slidenum">
              <a:rPr lang="en-IN" smtClean="0"/>
              <a:t>‹#›</a:t>
            </a:fld>
            <a:endParaRPr lang="en-IN"/>
          </a:p>
        </p:txBody>
      </p:sp>
    </p:spTree>
    <p:extLst>
      <p:ext uri="{BB962C8B-B14F-4D97-AF65-F5344CB8AC3E}">
        <p14:creationId xmlns:p14="http://schemas.microsoft.com/office/powerpoint/2010/main" val="310055512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ADE001-E6A8-420A-556B-F97B33947DD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568FD3DF-0303-E791-D7A3-E95D103DB77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75F2D4AA-DBF8-A038-C614-C30EDFF85E4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A8F1CBA-7E4E-DF95-D62B-49ED5AC37C62}"/>
              </a:ext>
            </a:extLst>
          </p:cNvPr>
          <p:cNvSpPr>
            <a:spLocks noGrp="1"/>
          </p:cNvSpPr>
          <p:nvPr>
            <p:ph type="dt" sz="half" idx="10"/>
          </p:nvPr>
        </p:nvSpPr>
        <p:spPr/>
        <p:txBody>
          <a:bodyPr/>
          <a:lstStyle/>
          <a:p>
            <a:fld id="{81717E30-FB5D-4AC6-B6CB-07E1275C2603}" type="datetimeFigureOut">
              <a:rPr lang="en-IN" smtClean="0"/>
              <a:t>26-10-2026</a:t>
            </a:fld>
            <a:endParaRPr lang="en-IN"/>
          </a:p>
        </p:txBody>
      </p:sp>
      <p:sp>
        <p:nvSpPr>
          <p:cNvPr id="6" name="Footer Placeholder 5">
            <a:extLst>
              <a:ext uri="{FF2B5EF4-FFF2-40B4-BE49-F238E27FC236}">
                <a16:creationId xmlns:a16="http://schemas.microsoft.com/office/drawing/2014/main" id="{EEF3B78B-E4F0-FD3E-08AF-6E2EAAB2D40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E5DE7AC-E7F4-C736-3BB0-6E62F9ED8404}"/>
              </a:ext>
            </a:extLst>
          </p:cNvPr>
          <p:cNvSpPr>
            <a:spLocks noGrp="1"/>
          </p:cNvSpPr>
          <p:nvPr>
            <p:ph type="sldNum" sz="quarter" idx="12"/>
          </p:nvPr>
        </p:nvSpPr>
        <p:spPr/>
        <p:txBody>
          <a:bodyPr/>
          <a:lstStyle/>
          <a:p>
            <a:fld id="{9369D144-F5D9-4F04-80D7-C9542DC11562}" type="slidenum">
              <a:rPr lang="en-IN" smtClean="0"/>
              <a:t>‹#›</a:t>
            </a:fld>
            <a:endParaRPr lang="en-IN"/>
          </a:p>
        </p:txBody>
      </p:sp>
    </p:spTree>
    <p:extLst>
      <p:ext uri="{BB962C8B-B14F-4D97-AF65-F5344CB8AC3E}">
        <p14:creationId xmlns:p14="http://schemas.microsoft.com/office/powerpoint/2010/main" val="212410418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7A5FBD-03A5-C4B4-6439-4AE701D9CD75}"/>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C7EF03AF-0CC4-3E00-D52C-94383FD4B3F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0293562-5D5E-DC9C-66E7-84040FA5D512}"/>
              </a:ext>
            </a:extLst>
          </p:cNvPr>
          <p:cNvSpPr>
            <a:spLocks noGrp="1"/>
          </p:cNvSpPr>
          <p:nvPr>
            <p:ph type="dt" sz="half" idx="10"/>
          </p:nvPr>
        </p:nvSpPr>
        <p:spPr/>
        <p:txBody>
          <a:bodyPr/>
          <a:lstStyle/>
          <a:p>
            <a:fld id="{81717E30-FB5D-4AC6-B6CB-07E1275C2603}" type="datetimeFigureOut">
              <a:rPr lang="en-IN" smtClean="0"/>
              <a:t>26-10-2026</a:t>
            </a:fld>
            <a:endParaRPr lang="en-IN"/>
          </a:p>
        </p:txBody>
      </p:sp>
      <p:sp>
        <p:nvSpPr>
          <p:cNvPr id="5" name="Footer Placeholder 4">
            <a:extLst>
              <a:ext uri="{FF2B5EF4-FFF2-40B4-BE49-F238E27FC236}">
                <a16:creationId xmlns:a16="http://schemas.microsoft.com/office/drawing/2014/main" id="{185E1A21-CA78-9F60-BB9E-EA38AE7DDD4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2B43D96-60E6-9C90-59A3-883554C8DFA8}"/>
              </a:ext>
            </a:extLst>
          </p:cNvPr>
          <p:cNvSpPr>
            <a:spLocks noGrp="1"/>
          </p:cNvSpPr>
          <p:nvPr>
            <p:ph type="sldNum" sz="quarter" idx="12"/>
          </p:nvPr>
        </p:nvSpPr>
        <p:spPr/>
        <p:txBody>
          <a:bodyPr/>
          <a:lstStyle/>
          <a:p>
            <a:fld id="{9369D144-F5D9-4F04-80D7-C9542DC11562}" type="slidenum">
              <a:rPr lang="en-IN" smtClean="0"/>
              <a:t>‹#›</a:t>
            </a:fld>
            <a:endParaRPr lang="en-IN"/>
          </a:p>
        </p:txBody>
      </p:sp>
    </p:spTree>
    <p:extLst>
      <p:ext uri="{BB962C8B-B14F-4D97-AF65-F5344CB8AC3E}">
        <p14:creationId xmlns:p14="http://schemas.microsoft.com/office/powerpoint/2010/main" val="20671641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5BF048B-79AC-5E1B-1B78-425BC9FCC65B}"/>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222FC52-390F-57F3-2127-C53D8D22420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7410636-D4F8-C584-4213-2A0694DA01D8}"/>
              </a:ext>
            </a:extLst>
          </p:cNvPr>
          <p:cNvSpPr>
            <a:spLocks noGrp="1"/>
          </p:cNvSpPr>
          <p:nvPr>
            <p:ph type="dt" sz="half" idx="10"/>
          </p:nvPr>
        </p:nvSpPr>
        <p:spPr/>
        <p:txBody>
          <a:bodyPr/>
          <a:lstStyle/>
          <a:p>
            <a:fld id="{81717E30-FB5D-4AC6-B6CB-07E1275C2603}" type="datetimeFigureOut">
              <a:rPr lang="en-IN" smtClean="0"/>
              <a:t>26-10-2026</a:t>
            </a:fld>
            <a:endParaRPr lang="en-IN"/>
          </a:p>
        </p:txBody>
      </p:sp>
      <p:sp>
        <p:nvSpPr>
          <p:cNvPr id="5" name="Footer Placeholder 4">
            <a:extLst>
              <a:ext uri="{FF2B5EF4-FFF2-40B4-BE49-F238E27FC236}">
                <a16:creationId xmlns:a16="http://schemas.microsoft.com/office/drawing/2014/main" id="{8D8C8171-4FF3-7D3E-91F1-412E7A37355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EF31CB9-8E4B-389C-0E86-756051D1CD77}"/>
              </a:ext>
            </a:extLst>
          </p:cNvPr>
          <p:cNvSpPr>
            <a:spLocks noGrp="1"/>
          </p:cNvSpPr>
          <p:nvPr>
            <p:ph type="sldNum" sz="quarter" idx="12"/>
          </p:nvPr>
        </p:nvSpPr>
        <p:spPr/>
        <p:txBody>
          <a:bodyPr/>
          <a:lstStyle/>
          <a:p>
            <a:fld id="{9369D144-F5D9-4F04-80D7-C9542DC11562}" type="slidenum">
              <a:rPr lang="en-IN" smtClean="0"/>
              <a:t>‹#›</a:t>
            </a:fld>
            <a:endParaRPr lang="en-IN"/>
          </a:p>
        </p:txBody>
      </p:sp>
    </p:spTree>
    <p:extLst>
      <p:ext uri="{BB962C8B-B14F-4D97-AF65-F5344CB8AC3E}">
        <p14:creationId xmlns:p14="http://schemas.microsoft.com/office/powerpoint/2010/main" val="15732342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theme" Target="../theme/theme1.xml" /><Relationship Id="rId2" Type="http://schemas.openxmlformats.org/officeDocument/2006/relationships/slideLayout" Target="../slideLayouts/slideLayout2.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0" Type="http://schemas.openxmlformats.org/officeDocument/2006/relationships/slideLayout" Target="../slideLayouts/slideLayout10.xml" /><Relationship Id="rId4" Type="http://schemas.openxmlformats.org/officeDocument/2006/relationships/slideLayout" Target="../slideLayouts/slideLayout4.xml" /><Relationship Id="rId9" Type="http://schemas.openxmlformats.org/officeDocument/2006/relationships/slideLayout" Target="../slideLayouts/slideLayout9.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4B9283C-5892-1B65-E3DD-B9212A15207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1141BE4-E3BE-AAF2-4CE0-B940C96B1F0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8EC251E-B02B-6617-F90C-5C9DD29CB49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1717E30-FB5D-4AC6-B6CB-07E1275C2603}" type="datetimeFigureOut">
              <a:rPr lang="en-IN" smtClean="0"/>
              <a:t>26-10-2026</a:t>
            </a:fld>
            <a:endParaRPr lang="en-IN"/>
          </a:p>
        </p:txBody>
      </p:sp>
      <p:sp>
        <p:nvSpPr>
          <p:cNvPr id="5" name="Footer Placeholder 4">
            <a:extLst>
              <a:ext uri="{FF2B5EF4-FFF2-40B4-BE49-F238E27FC236}">
                <a16:creationId xmlns:a16="http://schemas.microsoft.com/office/drawing/2014/main" id="{802F9804-6850-6D89-94F7-7FD87B621E7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6C4AF0AB-994B-A243-3D3C-CC6A2605AEF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369D144-F5D9-4F04-80D7-C9542DC11562}" type="slidenum">
              <a:rPr lang="en-IN" smtClean="0"/>
              <a:t>‹#›</a:t>
            </a:fld>
            <a:endParaRPr lang="en-IN"/>
          </a:p>
        </p:txBody>
      </p:sp>
    </p:spTree>
    <p:extLst>
      <p:ext uri="{BB962C8B-B14F-4D97-AF65-F5344CB8AC3E}">
        <p14:creationId xmlns:p14="http://schemas.microsoft.com/office/powerpoint/2010/main" val="269551226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 /><Relationship Id="rId1" Type="http://schemas.openxmlformats.org/officeDocument/2006/relationships/slideLayout" Target="../slideLayouts/slideLayout7.xml" /></Relationships>
</file>

<file path=ppt/slides/_rels/slide2.xml.rels><?xml version="1.0" encoding="UTF-8" standalone="yes"?>
<Relationships xmlns="http://schemas.openxmlformats.org/package/2006/relationships"><Relationship Id="rId3" Type="http://schemas.openxmlformats.org/officeDocument/2006/relationships/image" Target="../media/image3.emf" /><Relationship Id="rId2" Type="http://schemas.openxmlformats.org/officeDocument/2006/relationships/image" Target="../media/image2.emf" /><Relationship Id="rId1" Type="http://schemas.openxmlformats.org/officeDocument/2006/relationships/slideLayout" Target="../slideLayouts/slideLayout7.xml" /></Relationships>
</file>

<file path=ppt/slides/_rels/slide3.xml.rels><?xml version="1.0" encoding="UTF-8" standalone="yes"?>
<Relationships xmlns="http://schemas.openxmlformats.org/package/2006/relationships"><Relationship Id="rId3" Type="http://schemas.openxmlformats.org/officeDocument/2006/relationships/image" Target="../media/image2.emf" /><Relationship Id="rId2" Type="http://schemas.openxmlformats.org/officeDocument/2006/relationships/notesSlide" Target="../notesSlides/notesSlide1.xml" /><Relationship Id="rId1" Type="http://schemas.openxmlformats.org/officeDocument/2006/relationships/slideLayout" Target="../slideLayouts/slideLayout7.xml" /><Relationship Id="rId4" Type="http://schemas.openxmlformats.org/officeDocument/2006/relationships/image" Target="../media/image3.emf" /></Relationships>
</file>

<file path=ppt/slides/_rels/slide4.xml.rels><?xml version="1.0" encoding="UTF-8" standalone="yes"?>
<Relationships xmlns="http://schemas.openxmlformats.org/package/2006/relationships"><Relationship Id="rId3" Type="http://schemas.openxmlformats.org/officeDocument/2006/relationships/image" Target="../media/image3.emf" /><Relationship Id="rId2" Type="http://schemas.openxmlformats.org/officeDocument/2006/relationships/image" Target="../media/image2.emf" /><Relationship Id="rId1" Type="http://schemas.openxmlformats.org/officeDocument/2006/relationships/slideLayout" Target="../slideLayouts/slideLayout7.xml" /></Relationships>
</file>

<file path=ppt/slides/_rels/slide5.xml.rels><?xml version="1.0" encoding="UTF-8" standalone="yes"?>
<Relationships xmlns="http://schemas.openxmlformats.org/package/2006/relationships"><Relationship Id="rId3" Type="http://schemas.openxmlformats.org/officeDocument/2006/relationships/image" Target="../media/image3.emf" /><Relationship Id="rId2" Type="http://schemas.openxmlformats.org/officeDocument/2006/relationships/image" Target="../media/image2.emf" /><Relationship Id="rId1" Type="http://schemas.openxmlformats.org/officeDocument/2006/relationships/slideLayout" Target="../slideLayouts/slideLayout7.xml" /></Relationships>
</file>

<file path=ppt/slides/_rels/slide6.xml.rels><?xml version="1.0" encoding="UTF-8" standalone="yes"?>
<Relationships xmlns="http://schemas.openxmlformats.org/package/2006/relationships"><Relationship Id="rId3" Type="http://schemas.openxmlformats.org/officeDocument/2006/relationships/image" Target="../media/image3.emf" /><Relationship Id="rId2" Type="http://schemas.openxmlformats.org/officeDocument/2006/relationships/image" Target="../media/image2.emf" /><Relationship Id="rId1" Type="http://schemas.openxmlformats.org/officeDocument/2006/relationships/slideLayout" Target="../slideLayouts/slideLayout7.xml" /></Relationships>
</file>

<file path=ppt/slides/_rels/slide7.xml.rels><?xml version="1.0" encoding="UTF-8" standalone="yes"?>
<Relationships xmlns="http://schemas.openxmlformats.org/package/2006/relationships"><Relationship Id="rId3" Type="http://schemas.openxmlformats.org/officeDocument/2006/relationships/image" Target="../media/image3.emf" /><Relationship Id="rId2" Type="http://schemas.openxmlformats.org/officeDocument/2006/relationships/image" Target="../media/image2.emf" /><Relationship Id="rId1" Type="http://schemas.openxmlformats.org/officeDocument/2006/relationships/slideLayout" Target="../slideLayouts/slideLayout7.xml" /><Relationship Id="rId4" Type="http://schemas.openxmlformats.org/officeDocument/2006/relationships/image" Target="../media/image4.png" /></Relationships>
</file>

<file path=ppt/slides/_rels/slide8.xml.rels><?xml version="1.0" encoding="UTF-8" standalone="yes"?>
<Relationships xmlns="http://schemas.openxmlformats.org/package/2006/relationships"><Relationship Id="rId3" Type="http://schemas.openxmlformats.org/officeDocument/2006/relationships/image" Target="../media/image3.emf" /><Relationship Id="rId2" Type="http://schemas.openxmlformats.org/officeDocument/2006/relationships/image" Target="../media/image2.emf" /><Relationship Id="rId1" Type="http://schemas.openxmlformats.org/officeDocument/2006/relationships/slideLayout" Target="../slideLayouts/slideLayout7.xml" /></Relationships>
</file>

<file path=ppt/slides/_rels/slide9.xml.rels><?xml version="1.0" encoding="UTF-8" standalone="yes"?>
<Relationships xmlns="http://schemas.openxmlformats.org/package/2006/relationships"><Relationship Id="rId3" Type="http://schemas.openxmlformats.org/officeDocument/2006/relationships/image" Target="../media/image3.emf" /><Relationship Id="rId2" Type="http://schemas.openxmlformats.org/officeDocument/2006/relationships/image" Target="../media/image2.emf" /><Relationship Id="rId1" Type="http://schemas.openxmlformats.org/officeDocument/2006/relationships/slideLayout" Target="../slideLayouts/slideLayout7.xml" /></Relationships>
</file>

<file path=ppt/slides/_rels/slide10.xml.rels><?xml version="1.0" encoding="UTF-8" standalone="yes"?>
<Relationships xmlns="http://schemas.openxmlformats.org/package/2006/relationships"><Relationship Id="rId3" Type="http://schemas.openxmlformats.org/officeDocument/2006/relationships/image" Target="../media/image3.emf" /><Relationship Id="rId2" Type="http://schemas.openxmlformats.org/officeDocument/2006/relationships/image" Target="../media/image2.emf" /><Relationship Id="rId1" Type="http://schemas.openxmlformats.org/officeDocument/2006/relationships/slideLayout" Target="../slideLayouts/slideLayout7.xml" /><Relationship Id="rId4" Type="http://schemas.openxmlformats.org/officeDocument/2006/relationships/image" Target="../media/image5.png" /></Relationships>
</file>

<file path=ppt/slides/_rels/slide11.xml.rels><?xml version="1.0" encoding="UTF-8" standalone="yes"?>
<Relationships xmlns="http://schemas.openxmlformats.org/package/2006/relationships"><Relationship Id="rId3" Type="http://schemas.openxmlformats.org/officeDocument/2006/relationships/image" Target="../media/image3.emf" /><Relationship Id="rId2" Type="http://schemas.openxmlformats.org/officeDocument/2006/relationships/image" Target="../media/image2.emf" /><Relationship Id="rId1" Type="http://schemas.openxmlformats.org/officeDocument/2006/relationships/slideLayout" Target="../slideLayouts/slideLayout7.xml" /></Relationships>
</file>

<file path=ppt/slides/_rels/slide12.xml.rels><?xml version="1.0" encoding="UTF-8" standalone="yes"?>
<Relationships xmlns="http://schemas.openxmlformats.org/package/2006/relationships"><Relationship Id="rId3" Type="http://schemas.openxmlformats.org/officeDocument/2006/relationships/image" Target="../media/image3.emf" /><Relationship Id="rId2" Type="http://schemas.openxmlformats.org/officeDocument/2006/relationships/image" Target="../media/image2.emf" /><Relationship Id="rId1" Type="http://schemas.openxmlformats.org/officeDocument/2006/relationships/slideLayout" Target="../slideLayouts/slideLayout7.xml" /><Relationship Id="rId4" Type="http://schemas.openxmlformats.org/officeDocument/2006/relationships/image" Target="../media/image6.png" /></Relationships>
</file>

<file path=ppt/slides/_rels/slide13.xml.rels><?xml version="1.0" encoding="UTF-8" standalone="yes"?>
<Relationships xmlns="http://schemas.openxmlformats.org/package/2006/relationships"><Relationship Id="rId3" Type="http://schemas.openxmlformats.org/officeDocument/2006/relationships/image" Target="../media/image3.emf" /><Relationship Id="rId2" Type="http://schemas.openxmlformats.org/officeDocument/2006/relationships/image" Target="../media/image2.emf" /><Relationship Id="rId1" Type="http://schemas.openxmlformats.org/officeDocument/2006/relationships/slideLayout" Target="../slideLayouts/slideLayout7.xml" /></Relationships>
</file>

<file path=ppt/slides/_rels/slide14.xml.rels><?xml version="1.0" encoding="UTF-8" standalone="yes"?>
<Relationships xmlns="http://schemas.openxmlformats.org/package/2006/relationships"><Relationship Id="rId3" Type="http://schemas.openxmlformats.org/officeDocument/2006/relationships/image" Target="../media/image3.emf" /><Relationship Id="rId2" Type="http://schemas.openxmlformats.org/officeDocument/2006/relationships/image" Target="../media/image2.emf" /><Relationship Id="rId1" Type="http://schemas.openxmlformats.org/officeDocument/2006/relationships/slideLayout" Target="../slideLayouts/slideLayout7.xml" /><Relationship Id="rId4" Type="http://schemas.openxmlformats.org/officeDocument/2006/relationships/image" Target="../media/image7.png" /></Relationships>
</file>

<file path=ppt/slides/_rels/slide15.xml.rels><?xml version="1.0" encoding="UTF-8" standalone="yes"?>
<Relationships xmlns="http://schemas.openxmlformats.org/package/2006/relationships"><Relationship Id="rId3" Type="http://schemas.openxmlformats.org/officeDocument/2006/relationships/image" Target="../media/image3.emf" /><Relationship Id="rId2" Type="http://schemas.openxmlformats.org/officeDocument/2006/relationships/image" Target="../media/image2.emf" /><Relationship Id="rId1" Type="http://schemas.openxmlformats.org/officeDocument/2006/relationships/slideLayout" Target="../slideLayouts/slideLayout7.xml" /></Relationships>
</file>

<file path=ppt/slides/_rels/slide16.xml.rels><?xml version="1.0" encoding="UTF-8" standalone="yes"?>
<Relationships xmlns="http://schemas.openxmlformats.org/package/2006/relationships"><Relationship Id="rId3" Type="http://schemas.openxmlformats.org/officeDocument/2006/relationships/image" Target="../media/image3.emf" /><Relationship Id="rId2" Type="http://schemas.openxmlformats.org/officeDocument/2006/relationships/image" Target="../media/image2.emf" /><Relationship Id="rId1" Type="http://schemas.openxmlformats.org/officeDocument/2006/relationships/slideLayout" Target="../slideLayouts/slideLayout7.xml" /><Relationship Id="rId4" Type="http://schemas.openxmlformats.org/officeDocument/2006/relationships/image" Target="../media/image8.png" /></Relationships>
</file>

<file path=ppt/slides/_rels/slide17.xml.rels><?xml version="1.0" encoding="UTF-8" standalone="yes"?>
<Relationships xmlns="http://schemas.openxmlformats.org/package/2006/relationships"><Relationship Id="rId3" Type="http://schemas.openxmlformats.org/officeDocument/2006/relationships/image" Target="../media/image3.emf" /><Relationship Id="rId2" Type="http://schemas.openxmlformats.org/officeDocument/2006/relationships/image" Target="../media/image2.emf" /><Relationship Id="rId1" Type="http://schemas.openxmlformats.org/officeDocument/2006/relationships/slideLayout" Target="../slideLayouts/slideLayout7.xml" /><Relationship Id="rId4" Type="http://schemas.openxmlformats.org/officeDocument/2006/relationships/image" Target="../media/image9.png" /></Relationships>
</file>

<file path=ppt/slides/_rels/slide18.xml.rels><?xml version="1.0" encoding="UTF-8" standalone="yes"?>
<Relationships xmlns="http://schemas.openxmlformats.org/package/2006/relationships"><Relationship Id="rId3" Type="http://schemas.openxmlformats.org/officeDocument/2006/relationships/image" Target="../media/image3.emf" /><Relationship Id="rId2" Type="http://schemas.openxmlformats.org/officeDocument/2006/relationships/image" Target="../media/image2.emf" /><Relationship Id="rId1" Type="http://schemas.openxmlformats.org/officeDocument/2006/relationships/slideLayout" Target="../slideLayouts/slideLayout7.xml" /><Relationship Id="rId4" Type="http://schemas.openxmlformats.org/officeDocument/2006/relationships/image" Target="../media/image10.png" /></Relationships>
</file>

<file path=ppt/slides/_rels/slide19.xml.rels><?xml version="1.0" encoding="UTF-8" standalone="yes"?>
<Relationships xmlns="http://schemas.openxmlformats.org/package/2006/relationships"><Relationship Id="rId3" Type="http://schemas.openxmlformats.org/officeDocument/2006/relationships/image" Target="../media/image3.emf" /><Relationship Id="rId2" Type="http://schemas.openxmlformats.org/officeDocument/2006/relationships/image" Target="../media/image2.emf" /><Relationship Id="rId1" Type="http://schemas.openxmlformats.org/officeDocument/2006/relationships/slideLayout" Target="../slideLayouts/slideLayout7.xml" /><Relationship Id="rId4" Type="http://schemas.openxmlformats.org/officeDocument/2006/relationships/image" Target="../media/image11.png" /></Relationships>
</file>

<file path=ppt/slides/_rels/slide20.xml.rels><?xml version="1.0" encoding="UTF-8" standalone="yes"?>
<Relationships xmlns="http://schemas.openxmlformats.org/package/2006/relationships"><Relationship Id="rId3" Type="http://schemas.openxmlformats.org/officeDocument/2006/relationships/image" Target="../media/image3.emf" /><Relationship Id="rId2" Type="http://schemas.openxmlformats.org/officeDocument/2006/relationships/image" Target="../media/image2.emf" /><Relationship Id="rId1" Type="http://schemas.openxmlformats.org/officeDocument/2006/relationships/slideLayout" Target="../slideLayouts/slideLayout7.xml" /><Relationship Id="rId4" Type="http://schemas.openxmlformats.org/officeDocument/2006/relationships/image" Target="../media/image12.png" /></Relationships>
</file>

<file path=ppt/slides/_rels/slide21.xml.rels><?xml version="1.0" encoding="UTF-8" standalone="yes"?>
<Relationships xmlns="http://schemas.openxmlformats.org/package/2006/relationships"><Relationship Id="rId3" Type="http://schemas.openxmlformats.org/officeDocument/2006/relationships/image" Target="../media/image3.emf" /><Relationship Id="rId2" Type="http://schemas.openxmlformats.org/officeDocument/2006/relationships/image" Target="../media/image2.emf" /><Relationship Id="rId1" Type="http://schemas.openxmlformats.org/officeDocument/2006/relationships/slideLayout" Target="../slideLayouts/slideLayout7.xml" /></Relationships>
</file>

<file path=ppt/slides/_rels/slide22.xml.rels><?xml version="1.0" encoding="UTF-8" standalone="yes"?>
<Relationships xmlns="http://schemas.openxmlformats.org/package/2006/relationships"><Relationship Id="rId3" Type="http://schemas.openxmlformats.org/officeDocument/2006/relationships/image" Target="../media/image3.emf" /><Relationship Id="rId2" Type="http://schemas.openxmlformats.org/officeDocument/2006/relationships/image" Target="../media/image2.emf" /><Relationship Id="rId1" Type="http://schemas.openxmlformats.org/officeDocument/2006/relationships/slideLayout" Target="../slideLayouts/slideLayout7.xml" /></Relationships>
</file>

<file path=ppt/slides/_rels/slide23.xml.rels><?xml version="1.0" encoding="UTF-8" standalone="yes"?>
<Relationships xmlns="http://schemas.openxmlformats.org/package/2006/relationships"><Relationship Id="rId3" Type="http://schemas.openxmlformats.org/officeDocument/2006/relationships/image" Target="../media/image3.emf" /><Relationship Id="rId2" Type="http://schemas.openxmlformats.org/officeDocument/2006/relationships/image" Target="../media/image2.emf" /><Relationship Id="rId1" Type="http://schemas.openxmlformats.org/officeDocument/2006/relationships/slideLayout" Target="../slideLayouts/slideLayout7.xml" /><Relationship Id="rId4" Type="http://schemas.openxmlformats.org/officeDocument/2006/relationships/image" Target="../media/image13.jpeg"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23039A57-2E52-907E-07C5-1C1257497D4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91613" y="0"/>
            <a:ext cx="11208773" cy="1932389"/>
          </a:xfrm>
          <a:prstGeom prst="rect">
            <a:avLst/>
          </a:prstGeom>
        </p:spPr>
      </p:pic>
      <p:sp>
        <p:nvSpPr>
          <p:cNvPr id="6" name="TextBox 5">
            <a:extLst>
              <a:ext uri="{FF2B5EF4-FFF2-40B4-BE49-F238E27FC236}">
                <a16:creationId xmlns:a16="http://schemas.microsoft.com/office/drawing/2014/main" id="{E4989CA5-BB75-3BBD-8B43-86D56E693114}"/>
              </a:ext>
            </a:extLst>
          </p:cNvPr>
          <p:cNvSpPr txBox="1"/>
          <p:nvPr/>
        </p:nvSpPr>
        <p:spPr>
          <a:xfrm>
            <a:off x="907097" y="1786942"/>
            <a:ext cx="10659374" cy="954107"/>
          </a:xfrm>
          <a:prstGeom prst="rect">
            <a:avLst/>
          </a:prstGeom>
          <a:noFill/>
        </p:spPr>
        <p:txBody>
          <a:bodyPr wrap="square">
            <a:spAutoFit/>
          </a:bodyPr>
          <a:lstStyle/>
          <a:p>
            <a:pPr algn="ctr"/>
            <a:r>
              <a:rPr lang="en-US" sz="2800" b="1" dirty="0" err="1">
                <a:latin typeface="Times New Roman" panose="02020603050405020304" pitchFamily="18" charset="0"/>
                <a:cs typeface="Times New Roman" panose="02020603050405020304" pitchFamily="18" charset="0"/>
              </a:rPr>
              <a:t>BudgetBuddy</a:t>
            </a:r>
            <a:r>
              <a:rPr lang="en-US" sz="2800" b="1" dirty="0">
                <a:latin typeface="Times New Roman" panose="02020603050405020304" pitchFamily="18" charset="0"/>
                <a:cs typeface="Times New Roman" panose="02020603050405020304" pitchFamily="18" charset="0"/>
              </a:rPr>
              <a:t> – An Adaptive Student Expense and Savings Optimization System Using Object-Oriented C++</a:t>
            </a:r>
            <a:endParaRPr lang="en-IN" sz="2800" b="1"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865E3D77-964E-D844-1ACD-9A6FEE4AA0C8}"/>
              </a:ext>
            </a:extLst>
          </p:cNvPr>
          <p:cNvSpPr txBox="1"/>
          <p:nvPr/>
        </p:nvSpPr>
        <p:spPr>
          <a:xfrm>
            <a:off x="710240" y="4228102"/>
            <a:ext cx="1754038" cy="400110"/>
          </a:xfrm>
          <a:prstGeom prst="rect">
            <a:avLst/>
          </a:prstGeom>
          <a:noFill/>
        </p:spPr>
        <p:txBody>
          <a:bodyPr wrap="square">
            <a:spAutoFit/>
          </a:bodyPr>
          <a:lstStyle/>
          <a:p>
            <a:r>
              <a:rPr lang="en-IN" sz="2000" dirty="0">
                <a:latin typeface="Times New Roman" panose="02020603050405020304" pitchFamily="18" charset="0"/>
                <a:cs typeface="Times New Roman" panose="02020603050405020304" pitchFamily="18" charset="0"/>
              </a:rPr>
              <a:t>Guided by:</a:t>
            </a:r>
          </a:p>
        </p:txBody>
      </p:sp>
      <p:sp>
        <p:nvSpPr>
          <p:cNvPr id="7" name="TextBox 6">
            <a:extLst>
              <a:ext uri="{FF2B5EF4-FFF2-40B4-BE49-F238E27FC236}">
                <a16:creationId xmlns:a16="http://schemas.microsoft.com/office/drawing/2014/main" id="{28C29949-42AF-1259-98B5-5C30A4540098}"/>
              </a:ext>
            </a:extLst>
          </p:cNvPr>
          <p:cNvSpPr txBox="1"/>
          <p:nvPr/>
        </p:nvSpPr>
        <p:spPr>
          <a:xfrm>
            <a:off x="7445404" y="4208502"/>
            <a:ext cx="1909313" cy="400110"/>
          </a:xfrm>
          <a:prstGeom prst="rect">
            <a:avLst/>
          </a:prstGeom>
          <a:noFill/>
        </p:spPr>
        <p:txBody>
          <a:bodyPr wrap="square">
            <a:spAutoFit/>
          </a:bodyPr>
          <a:lstStyle/>
          <a:p>
            <a:r>
              <a:rPr lang="en-IN" sz="2000" dirty="0">
                <a:latin typeface="Times New Roman" panose="02020603050405020304" pitchFamily="18" charset="0"/>
                <a:cs typeface="Times New Roman" panose="02020603050405020304" pitchFamily="18" charset="0"/>
              </a:rPr>
              <a:t>Presented by:</a:t>
            </a:r>
          </a:p>
        </p:txBody>
      </p:sp>
      <p:sp>
        <p:nvSpPr>
          <p:cNvPr id="4" name="TextBox 3">
            <a:extLst>
              <a:ext uri="{FF2B5EF4-FFF2-40B4-BE49-F238E27FC236}">
                <a16:creationId xmlns:a16="http://schemas.microsoft.com/office/drawing/2014/main" id="{9CB5E6EC-DE54-1371-8116-97C56D4AB6CE}"/>
              </a:ext>
            </a:extLst>
          </p:cNvPr>
          <p:cNvSpPr txBox="1"/>
          <p:nvPr/>
        </p:nvSpPr>
        <p:spPr>
          <a:xfrm>
            <a:off x="2520984" y="2846023"/>
            <a:ext cx="7545012" cy="400110"/>
          </a:xfrm>
          <a:prstGeom prst="rect">
            <a:avLst/>
          </a:prstGeom>
          <a:noFill/>
        </p:spPr>
        <p:txBody>
          <a:bodyPr wrap="square">
            <a:spAutoFit/>
          </a:bodyPr>
          <a:lstStyle/>
          <a:p>
            <a:r>
              <a:rPr lang="en-IN" sz="2000" b="1" dirty="0">
                <a:latin typeface="Times New Roman" panose="02020603050405020304" pitchFamily="18" charset="0"/>
                <a:cs typeface="Times New Roman" panose="02020603050405020304" pitchFamily="18" charset="0"/>
              </a:rPr>
              <a:t>DSA0106 - OBJECT ORIENTED PROGRAMMING WITH C++</a:t>
            </a:r>
          </a:p>
        </p:txBody>
      </p:sp>
      <p:sp>
        <p:nvSpPr>
          <p:cNvPr id="9" name="TextBox 8">
            <a:extLst>
              <a:ext uri="{FF2B5EF4-FFF2-40B4-BE49-F238E27FC236}">
                <a16:creationId xmlns:a16="http://schemas.microsoft.com/office/drawing/2014/main" id="{3442B025-85FD-7D7F-2D48-ADE52F4B24BC}"/>
              </a:ext>
            </a:extLst>
          </p:cNvPr>
          <p:cNvSpPr txBox="1"/>
          <p:nvPr/>
        </p:nvSpPr>
        <p:spPr>
          <a:xfrm>
            <a:off x="7445404" y="4808667"/>
            <a:ext cx="3010458" cy="369332"/>
          </a:xfrm>
          <a:prstGeom prst="rect">
            <a:avLst/>
          </a:prstGeom>
          <a:noFill/>
        </p:spPr>
        <p:txBody>
          <a:bodyPr wrap="square">
            <a:spAutoFit/>
          </a:bodyPr>
          <a:lstStyle/>
          <a:p>
            <a:r>
              <a:rPr lang="en-IN" b="1" dirty="0">
                <a:latin typeface="Times New Roman" panose="02020603050405020304" pitchFamily="18" charset="0"/>
                <a:cs typeface="Times New Roman" panose="02020603050405020304" pitchFamily="18" charset="0"/>
              </a:rPr>
              <a:t>Hemalakshmi H (192571049</a:t>
            </a:r>
            <a:r>
              <a:rPr lang="en-IN" b="1" dirty="0"/>
              <a:t>)</a:t>
            </a:r>
          </a:p>
        </p:txBody>
      </p:sp>
      <p:sp>
        <p:nvSpPr>
          <p:cNvPr id="12" name="TextBox 11">
            <a:extLst>
              <a:ext uri="{FF2B5EF4-FFF2-40B4-BE49-F238E27FC236}">
                <a16:creationId xmlns:a16="http://schemas.microsoft.com/office/drawing/2014/main" id="{508DE4C4-BF30-5363-D113-178F44483F6B}"/>
              </a:ext>
            </a:extLst>
          </p:cNvPr>
          <p:cNvSpPr txBox="1"/>
          <p:nvPr/>
        </p:nvSpPr>
        <p:spPr>
          <a:xfrm>
            <a:off x="7445404" y="5162610"/>
            <a:ext cx="2517303" cy="369332"/>
          </a:xfrm>
          <a:prstGeom prst="rect">
            <a:avLst/>
          </a:prstGeom>
          <a:noFill/>
        </p:spPr>
        <p:txBody>
          <a:bodyPr wrap="square">
            <a:spAutoFit/>
          </a:bodyPr>
          <a:lstStyle/>
          <a:p>
            <a:r>
              <a:rPr lang="en-IN" b="1" dirty="0" err="1">
                <a:latin typeface="Times New Roman" panose="02020603050405020304" pitchFamily="18" charset="0"/>
                <a:cs typeface="Times New Roman" panose="02020603050405020304" pitchFamily="18" charset="0"/>
              </a:rPr>
              <a:t>Shaffria</a:t>
            </a:r>
            <a:r>
              <a:rPr lang="en-IN" b="1" dirty="0">
                <a:latin typeface="Times New Roman" panose="02020603050405020304" pitchFamily="18" charset="0"/>
                <a:cs typeface="Times New Roman" panose="02020603050405020304" pitchFamily="18" charset="0"/>
              </a:rPr>
              <a:t> A (192571047</a:t>
            </a:r>
            <a:r>
              <a:rPr lang="en-IN" b="1" dirty="0"/>
              <a:t>)</a:t>
            </a:r>
          </a:p>
        </p:txBody>
      </p:sp>
      <p:sp>
        <p:nvSpPr>
          <p:cNvPr id="8" name="TextBox 7">
            <a:extLst>
              <a:ext uri="{FF2B5EF4-FFF2-40B4-BE49-F238E27FC236}">
                <a16:creationId xmlns:a16="http://schemas.microsoft.com/office/drawing/2014/main" id="{14C8F4D6-B8F7-E9CF-0FA1-1BE23C75F249}"/>
              </a:ext>
            </a:extLst>
          </p:cNvPr>
          <p:cNvSpPr txBox="1"/>
          <p:nvPr/>
        </p:nvSpPr>
        <p:spPr>
          <a:xfrm>
            <a:off x="7445404" y="5539636"/>
            <a:ext cx="3543952" cy="369332"/>
          </a:xfrm>
          <a:prstGeom prst="rect">
            <a:avLst/>
          </a:prstGeom>
          <a:noFill/>
        </p:spPr>
        <p:txBody>
          <a:bodyPr wrap="square">
            <a:spAutoFit/>
          </a:bodyPr>
          <a:lstStyle/>
          <a:p>
            <a:r>
              <a:rPr lang="en-IN" b="1" dirty="0" err="1">
                <a:latin typeface="Times New Roman" panose="02020603050405020304" pitchFamily="18" charset="0"/>
                <a:cs typeface="Times New Roman" panose="02020603050405020304" pitchFamily="18" charset="0"/>
              </a:rPr>
              <a:t>Sivalanka</a:t>
            </a:r>
            <a:r>
              <a:rPr lang="en-IN" b="1" dirty="0">
                <a:latin typeface="Times New Roman" panose="02020603050405020304" pitchFamily="18" charset="0"/>
                <a:cs typeface="Times New Roman" panose="02020603050405020304" pitchFamily="18" charset="0"/>
              </a:rPr>
              <a:t> Hasini (192525294</a:t>
            </a:r>
            <a:r>
              <a:rPr lang="en-IN" dirty="0">
                <a:latin typeface="Times New Roman" panose="02020603050405020304" pitchFamily="18" charset="0"/>
                <a:cs typeface="Times New Roman" panose="02020603050405020304" pitchFamily="18" charset="0"/>
              </a:rPr>
              <a:t>)</a:t>
            </a:r>
            <a:endParaRPr lang="en-IN" dirty="0"/>
          </a:p>
        </p:txBody>
      </p:sp>
      <p:sp>
        <p:nvSpPr>
          <p:cNvPr id="13" name="TextBox 12">
            <a:extLst>
              <a:ext uri="{FF2B5EF4-FFF2-40B4-BE49-F238E27FC236}">
                <a16:creationId xmlns:a16="http://schemas.microsoft.com/office/drawing/2014/main" id="{3A7C7E94-AF97-CC6F-8B09-83116CD2FC9C}"/>
              </a:ext>
            </a:extLst>
          </p:cNvPr>
          <p:cNvSpPr txBox="1"/>
          <p:nvPr/>
        </p:nvSpPr>
        <p:spPr>
          <a:xfrm>
            <a:off x="7445404" y="5916662"/>
            <a:ext cx="4254982" cy="369332"/>
          </a:xfrm>
          <a:prstGeom prst="rect">
            <a:avLst/>
          </a:prstGeom>
          <a:noFill/>
        </p:spPr>
        <p:txBody>
          <a:bodyPr wrap="square">
            <a:spAutoFit/>
          </a:bodyPr>
          <a:lstStyle/>
          <a:p>
            <a:r>
              <a:rPr lang="en-IN" b="1" dirty="0">
                <a:latin typeface="Times New Roman" panose="02020603050405020304" pitchFamily="18" charset="0"/>
                <a:cs typeface="Times New Roman" panose="02020603050405020304" pitchFamily="18" charset="0"/>
              </a:rPr>
              <a:t>Ayesha </a:t>
            </a:r>
            <a:r>
              <a:rPr lang="en-IN" b="1" dirty="0" err="1">
                <a:latin typeface="Times New Roman" panose="02020603050405020304" pitchFamily="18" charset="0"/>
                <a:cs typeface="Times New Roman" panose="02020603050405020304" pitchFamily="18" charset="0"/>
              </a:rPr>
              <a:t>Thameema</a:t>
            </a:r>
            <a:r>
              <a:rPr lang="en-IN" b="1" dirty="0">
                <a:latin typeface="Times New Roman" panose="02020603050405020304" pitchFamily="18" charset="0"/>
                <a:cs typeface="Times New Roman" panose="02020603050405020304" pitchFamily="18" charset="0"/>
              </a:rPr>
              <a:t> Banu M (192524321</a:t>
            </a:r>
            <a:r>
              <a:rPr lang="en-IN" dirty="0"/>
              <a:t>)</a:t>
            </a:r>
          </a:p>
        </p:txBody>
      </p:sp>
      <p:sp>
        <p:nvSpPr>
          <p:cNvPr id="15" name="TextBox 14">
            <a:extLst>
              <a:ext uri="{FF2B5EF4-FFF2-40B4-BE49-F238E27FC236}">
                <a16:creationId xmlns:a16="http://schemas.microsoft.com/office/drawing/2014/main" id="{B5F25839-5843-F6E9-E69A-DAD052B10693}"/>
              </a:ext>
            </a:extLst>
          </p:cNvPr>
          <p:cNvSpPr txBox="1"/>
          <p:nvPr/>
        </p:nvSpPr>
        <p:spPr>
          <a:xfrm>
            <a:off x="710240" y="4733186"/>
            <a:ext cx="3010458" cy="1289071"/>
          </a:xfrm>
          <a:prstGeom prst="rect">
            <a:avLst/>
          </a:prstGeom>
          <a:noFill/>
        </p:spPr>
        <p:txBody>
          <a:bodyPr wrap="square">
            <a:spAutoFit/>
          </a:bodyPr>
          <a:lstStyle/>
          <a:p>
            <a:pPr>
              <a:lnSpc>
                <a:spcPct val="150000"/>
              </a:lnSpc>
            </a:pPr>
            <a:r>
              <a:rPr lang="en-IN" b="1" dirty="0">
                <a:latin typeface="Times New Roman" panose="02020603050405020304" pitchFamily="18" charset="0"/>
                <a:cs typeface="Times New Roman" panose="02020603050405020304" pitchFamily="18" charset="0"/>
              </a:rPr>
              <a:t>Mr. JEGADEESH K</a:t>
            </a:r>
          </a:p>
          <a:p>
            <a:pPr>
              <a:lnSpc>
                <a:spcPct val="150000"/>
              </a:lnSpc>
            </a:pPr>
            <a:r>
              <a:rPr lang="en-IN" b="1" dirty="0">
                <a:latin typeface="Times New Roman" panose="02020603050405020304" pitchFamily="18" charset="0"/>
                <a:cs typeface="Times New Roman" panose="02020603050405020304" pitchFamily="18" charset="0"/>
              </a:rPr>
              <a:t>Industrial Professional,</a:t>
            </a:r>
          </a:p>
          <a:p>
            <a:pPr>
              <a:lnSpc>
                <a:spcPct val="150000"/>
              </a:lnSpc>
            </a:pPr>
            <a:r>
              <a:rPr lang="en-IN" b="1" dirty="0">
                <a:latin typeface="Times New Roman" panose="02020603050405020304" pitchFamily="18" charset="0"/>
                <a:cs typeface="Times New Roman" panose="02020603050405020304" pitchFamily="18" charset="0"/>
              </a:rPr>
              <a:t>Coimbatore.</a:t>
            </a:r>
          </a:p>
        </p:txBody>
      </p:sp>
    </p:spTree>
    <p:extLst>
      <p:ext uri="{BB962C8B-B14F-4D97-AF65-F5344CB8AC3E}">
        <p14:creationId xmlns:p14="http://schemas.microsoft.com/office/powerpoint/2010/main" val="35863668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CC7C17-2E84-D87A-8E02-36BE6D27AA88}"/>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6EB6F22B-C342-1722-3CF3-3345E1704F16}"/>
              </a:ext>
            </a:extLst>
          </p:cNvPr>
          <p:cNvPicPr>
            <a:picLocks noChangeAspect="1"/>
          </p:cNvPicPr>
          <p:nvPr/>
        </p:nvPicPr>
        <p:blipFill>
          <a:blip r:embed="rId2"/>
          <a:stretch>
            <a:fillRect/>
          </a:stretch>
        </p:blipFill>
        <p:spPr>
          <a:xfrm>
            <a:off x="495764" y="205558"/>
            <a:ext cx="1114361" cy="1293043"/>
          </a:xfrm>
          <a:prstGeom prst="rect">
            <a:avLst/>
          </a:prstGeom>
        </p:spPr>
      </p:pic>
      <p:pic>
        <p:nvPicPr>
          <p:cNvPr id="3" name="Picture 2">
            <a:extLst>
              <a:ext uri="{FF2B5EF4-FFF2-40B4-BE49-F238E27FC236}">
                <a16:creationId xmlns:a16="http://schemas.microsoft.com/office/drawing/2014/main" id="{94CCA983-87B9-333F-8BEB-1867D6423684}"/>
              </a:ext>
            </a:extLst>
          </p:cNvPr>
          <p:cNvPicPr>
            <a:picLocks noChangeAspect="1"/>
          </p:cNvPicPr>
          <p:nvPr/>
        </p:nvPicPr>
        <p:blipFill>
          <a:blip r:embed="rId3"/>
          <a:stretch>
            <a:fillRect/>
          </a:stretch>
        </p:blipFill>
        <p:spPr>
          <a:xfrm>
            <a:off x="10551008" y="228690"/>
            <a:ext cx="1348892" cy="1199972"/>
          </a:xfrm>
          <a:prstGeom prst="rect">
            <a:avLst/>
          </a:prstGeom>
        </p:spPr>
      </p:pic>
      <p:sp>
        <p:nvSpPr>
          <p:cNvPr id="5" name="TextBox 4">
            <a:extLst>
              <a:ext uri="{FF2B5EF4-FFF2-40B4-BE49-F238E27FC236}">
                <a16:creationId xmlns:a16="http://schemas.microsoft.com/office/drawing/2014/main" id="{E0E434D2-C78F-B879-8432-9F8D93EB703A}"/>
              </a:ext>
            </a:extLst>
          </p:cNvPr>
          <p:cNvSpPr txBox="1"/>
          <p:nvPr/>
        </p:nvSpPr>
        <p:spPr>
          <a:xfrm>
            <a:off x="5225420" y="476020"/>
            <a:ext cx="1853646" cy="584775"/>
          </a:xfrm>
          <a:prstGeom prst="rect">
            <a:avLst/>
          </a:prstGeom>
          <a:noFill/>
        </p:spPr>
        <p:txBody>
          <a:bodyPr wrap="square">
            <a:spAutoFit/>
          </a:bodyPr>
          <a:lstStyle/>
          <a:p>
            <a:r>
              <a:rPr lang="en-US" sz="3200" b="1" dirty="0">
                <a:latin typeface="Times New Roman" panose="02020603050405020304" pitchFamily="18" charset="0"/>
                <a:cs typeface="Times New Roman" panose="02020603050405020304" pitchFamily="18" charset="0"/>
              </a:rPr>
              <a:t>Objective</a:t>
            </a:r>
            <a:endParaRPr lang="en-IN" sz="3200" b="1"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0187DBF8-AC2D-B744-2DD3-86F152F85DBB}"/>
              </a:ext>
            </a:extLst>
          </p:cNvPr>
          <p:cNvSpPr txBox="1"/>
          <p:nvPr/>
        </p:nvSpPr>
        <p:spPr>
          <a:xfrm>
            <a:off x="1610125" y="1498601"/>
            <a:ext cx="9084236" cy="5115311"/>
          </a:xfrm>
          <a:prstGeom prst="rect">
            <a:avLst/>
          </a:prstGeom>
          <a:noFill/>
        </p:spPr>
        <p:txBody>
          <a:bodyPr wrap="square">
            <a:spAutoFit/>
          </a:bodyPr>
          <a:lstStyle/>
          <a:p>
            <a:pPr marL="342900" lvl="0" indent="-342900" algn="just">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To develop an adaptive budgeting system that helps students manage their monthly allowance effectively.</a:t>
            </a:r>
          </a:p>
          <a:p>
            <a:pPr marL="342900" lvl="0" indent="-342900" algn="just">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To </a:t>
            </a:r>
            <a:r>
              <a:rPr lang="en-IN" sz="2000" dirty="0" err="1">
                <a:latin typeface="Times New Roman" panose="02020603050405020304" pitchFamily="18" charset="0"/>
                <a:cs typeface="Times New Roman" panose="02020603050405020304" pitchFamily="18" charset="0"/>
              </a:rPr>
              <a:t>analyze</a:t>
            </a:r>
            <a:r>
              <a:rPr lang="en-IN" sz="2000" dirty="0">
                <a:latin typeface="Times New Roman" panose="02020603050405020304" pitchFamily="18" charset="0"/>
                <a:cs typeface="Times New Roman" panose="02020603050405020304" pitchFamily="18" charset="0"/>
              </a:rPr>
              <a:t> spending patterns and identify unnecessary expenses and potential savings opportunities.</a:t>
            </a:r>
          </a:p>
          <a:p>
            <a:pPr marL="342900" lvl="0" indent="-342900" algn="just">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To evaluate proposed purchases and simulate unexpected expenses to support better financial decisions.</a:t>
            </a:r>
          </a:p>
          <a:p>
            <a:pPr marL="342900" lvl="0" indent="-342900" algn="just">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To track multiple savings goals and optimize savings contributions based on available funds.</a:t>
            </a:r>
          </a:p>
          <a:p>
            <a:pPr marL="342900" lvl="0" indent="-342900" algn="just">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To implement a modular and efficient student expense management system using Object-Oriented C++.</a:t>
            </a:r>
          </a:p>
          <a:p>
            <a:pPr marL="342900" indent="-342900">
              <a:lnSpc>
                <a:spcPct val="150000"/>
              </a:lnSpc>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673035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B578AECE-7EF4-96D9-4289-0B0E1066E70B}"/>
              </a:ext>
            </a:extLst>
          </p:cNvPr>
          <p:cNvPicPr>
            <a:picLocks noChangeAspect="1"/>
          </p:cNvPicPr>
          <p:nvPr/>
        </p:nvPicPr>
        <p:blipFill>
          <a:blip r:embed="rId3"/>
          <a:stretch>
            <a:fillRect/>
          </a:stretch>
        </p:blipFill>
        <p:spPr>
          <a:xfrm>
            <a:off x="495764" y="205558"/>
            <a:ext cx="1114361" cy="1293043"/>
          </a:xfrm>
          <a:prstGeom prst="rect">
            <a:avLst/>
          </a:prstGeom>
        </p:spPr>
      </p:pic>
      <p:pic>
        <p:nvPicPr>
          <p:cNvPr id="3" name="Picture 2">
            <a:extLst>
              <a:ext uri="{FF2B5EF4-FFF2-40B4-BE49-F238E27FC236}">
                <a16:creationId xmlns:a16="http://schemas.microsoft.com/office/drawing/2014/main" id="{4B5F6EB6-743C-B2B6-5C8B-781582587787}"/>
              </a:ext>
            </a:extLst>
          </p:cNvPr>
          <p:cNvPicPr>
            <a:picLocks noChangeAspect="1"/>
          </p:cNvPicPr>
          <p:nvPr/>
        </p:nvPicPr>
        <p:blipFill>
          <a:blip r:embed="rId4"/>
          <a:stretch>
            <a:fillRect/>
          </a:stretch>
        </p:blipFill>
        <p:spPr>
          <a:xfrm>
            <a:off x="10551008" y="228690"/>
            <a:ext cx="1348892" cy="1199972"/>
          </a:xfrm>
          <a:prstGeom prst="rect">
            <a:avLst/>
          </a:prstGeom>
        </p:spPr>
      </p:pic>
      <p:sp>
        <p:nvSpPr>
          <p:cNvPr id="5" name="TextBox 4">
            <a:extLst>
              <a:ext uri="{FF2B5EF4-FFF2-40B4-BE49-F238E27FC236}">
                <a16:creationId xmlns:a16="http://schemas.microsoft.com/office/drawing/2014/main" id="{075D6E0C-A4B3-CF9B-0092-9BDB4FCC86A5}"/>
              </a:ext>
            </a:extLst>
          </p:cNvPr>
          <p:cNvSpPr txBox="1"/>
          <p:nvPr/>
        </p:nvSpPr>
        <p:spPr>
          <a:xfrm>
            <a:off x="4877424" y="438410"/>
            <a:ext cx="2437152" cy="584775"/>
          </a:xfrm>
          <a:prstGeom prst="rect">
            <a:avLst/>
          </a:prstGeom>
          <a:noFill/>
        </p:spPr>
        <p:txBody>
          <a:bodyPr wrap="square">
            <a:spAutoFit/>
          </a:bodyPr>
          <a:lstStyle/>
          <a:p>
            <a:r>
              <a:rPr lang="en-IN" sz="3200" b="1" dirty="0">
                <a:latin typeface="Times New Roman" panose="02020603050405020304" pitchFamily="18" charset="0"/>
                <a:cs typeface="Times New Roman" panose="02020603050405020304" pitchFamily="18" charset="0"/>
              </a:rPr>
              <a:t>Introduction</a:t>
            </a:r>
          </a:p>
        </p:txBody>
      </p:sp>
      <p:sp>
        <p:nvSpPr>
          <p:cNvPr id="7" name="TextBox 6">
            <a:extLst>
              <a:ext uri="{FF2B5EF4-FFF2-40B4-BE49-F238E27FC236}">
                <a16:creationId xmlns:a16="http://schemas.microsoft.com/office/drawing/2014/main" id="{0FD8A85B-06C4-59D6-0634-1C3D98C23589}"/>
              </a:ext>
            </a:extLst>
          </p:cNvPr>
          <p:cNvSpPr txBox="1"/>
          <p:nvPr/>
        </p:nvSpPr>
        <p:spPr>
          <a:xfrm>
            <a:off x="1153459" y="1428662"/>
            <a:ext cx="9669929" cy="5115311"/>
          </a:xfrm>
          <a:prstGeom prst="rect">
            <a:avLst/>
          </a:prstGeom>
          <a:noFill/>
        </p:spPr>
        <p:txBody>
          <a:bodyPr wrap="square">
            <a:spAutoFit/>
          </a:bodyPr>
          <a:lstStyle/>
          <a:p>
            <a:pPr marL="342900" lvl="0" indent="-342900" algn="just">
              <a:lnSpc>
                <a:spcPct val="150000"/>
              </a:lnSpc>
              <a:buFont typeface="Arial" panose="020B0604020202020204" pitchFamily="34" charset="0"/>
              <a:buChar char="•"/>
            </a:pPr>
            <a:r>
              <a:rPr lang="en-IN" sz="2000" b="1" dirty="0" err="1">
                <a:latin typeface="Times New Roman" panose="02020603050405020304" pitchFamily="18" charset="0"/>
                <a:cs typeface="Times New Roman" panose="02020603050405020304" pitchFamily="18" charset="0"/>
              </a:rPr>
              <a:t>BudgetBuddy</a:t>
            </a:r>
            <a:r>
              <a:rPr lang="en-IN" sz="2000" dirty="0">
                <a:latin typeface="Times New Roman" panose="02020603050405020304" pitchFamily="18" charset="0"/>
                <a:cs typeface="Times New Roman" panose="02020603050405020304" pitchFamily="18" charset="0"/>
              </a:rPr>
              <a:t> is an adaptive student expense and savings optimization system developed using Object-Oriented C++.</a:t>
            </a:r>
          </a:p>
          <a:p>
            <a:pPr marL="342900" lvl="0" indent="-342900" algn="just">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It </a:t>
            </a:r>
            <a:r>
              <a:rPr lang="en-IN" sz="2000" dirty="0" err="1">
                <a:latin typeface="Times New Roman" panose="02020603050405020304" pitchFamily="18" charset="0"/>
                <a:cs typeface="Times New Roman" panose="02020603050405020304" pitchFamily="18" charset="0"/>
              </a:rPr>
              <a:t>analyzes</a:t>
            </a:r>
            <a:r>
              <a:rPr lang="en-IN" sz="2000" dirty="0">
                <a:latin typeface="Times New Roman" panose="02020603050405020304" pitchFamily="18" charset="0"/>
                <a:cs typeface="Times New Roman" panose="02020603050405020304" pitchFamily="18" charset="0"/>
              </a:rPr>
              <a:t> students' spending patterns and available allowance to calculate safe-spending limits and support better budgeting decisions.</a:t>
            </a:r>
          </a:p>
          <a:p>
            <a:pPr marL="342900" lvl="0" indent="-342900" algn="just">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It identifies unnecessary expenses, prioritizes essential needs, and provides insights into potential savings.</a:t>
            </a:r>
          </a:p>
          <a:p>
            <a:pPr marL="342900" lvl="0" indent="-342900" algn="just">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It simulates financial situations, such as unexpected expenses and planned purchases, to help students make informed spending decisions.</a:t>
            </a:r>
          </a:p>
          <a:p>
            <a:pPr marL="342900" lvl="0" indent="-342900" algn="just">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It tracks multiple savings goals and helps students optimize contributions while balancing daily expenses.</a:t>
            </a:r>
          </a:p>
          <a:p>
            <a:pPr marL="342900" indent="-342900">
              <a:lnSpc>
                <a:spcPct val="150000"/>
              </a:lnSpc>
              <a:buFont typeface="Arial" panose="020B0604020202020204" pitchFamily="34" charset="0"/>
              <a:buChar char="•"/>
            </a:pP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576378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E9EC53-2CFF-2991-9794-AD4912438567}"/>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C6784F05-516B-DAFA-4B56-EF33CE42EB55}"/>
              </a:ext>
            </a:extLst>
          </p:cNvPr>
          <p:cNvPicPr>
            <a:picLocks noChangeAspect="1"/>
          </p:cNvPicPr>
          <p:nvPr/>
        </p:nvPicPr>
        <p:blipFill>
          <a:blip r:embed="rId2"/>
          <a:stretch>
            <a:fillRect/>
          </a:stretch>
        </p:blipFill>
        <p:spPr>
          <a:xfrm>
            <a:off x="495764" y="205558"/>
            <a:ext cx="1114361" cy="1293043"/>
          </a:xfrm>
          <a:prstGeom prst="rect">
            <a:avLst/>
          </a:prstGeom>
        </p:spPr>
      </p:pic>
      <p:pic>
        <p:nvPicPr>
          <p:cNvPr id="3" name="Picture 2">
            <a:extLst>
              <a:ext uri="{FF2B5EF4-FFF2-40B4-BE49-F238E27FC236}">
                <a16:creationId xmlns:a16="http://schemas.microsoft.com/office/drawing/2014/main" id="{B0B52FC4-479C-17E6-736F-6BD21DDD26F9}"/>
              </a:ext>
            </a:extLst>
          </p:cNvPr>
          <p:cNvPicPr>
            <a:picLocks noChangeAspect="1"/>
          </p:cNvPicPr>
          <p:nvPr/>
        </p:nvPicPr>
        <p:blipFill>
          <a:blip r:embed="rId3"/>
          <a:stretch>
            <a:fillRect/>
          </a:stretch>
        </p:blipFill>
        <p:spPr>
          <a:xfrm>
            <a:off x="10551008" y="228690"/>
            <a:ext cx="1348892" cy="1199972"/>
          </a:xfrm>
          <a:prstGeom prst="rect">
            <a:avLst/>
          </a:prstGeom>
        </p:spPr>
      </p:pic>
      <p:sp>
        <p:nvSpPr>
          <p:cNvPr id="5" name="TextBox 4">
            <a:extLst>
              <a:ext uri="{FF2B5EF4-FFF2-40B4-BE49-F238E27FC236}">
                <a16:creationId xmlns:a16="http://schemas.microsoft.com/office/drawing/2014/main" id="{0C5B8B6E-B3FA-F5D8-3901-3D00FADA2A9A}"/>
              </a:ext>
            </a:extLst>
          </p:cNvPr>
          <p:cNvSpPr txBox="1"/>
          <p:nvPr/>
        </p:nvSpPr>
        <p:spPr>
          <a:xfrm>
            <a:off x="4306047" y="536289"/>
            <a:ext cx="3579906" cy="584775"/>
          </a:xfrm>
          <a:prstGeom prst="rect">
            <a:avLst/>
          </a:prstGeom>
          <a:noFill/>
        </p:spPr>
        <p:txBody>
          <a:bodyPr wrap="square">
            <a:spAutoFit/>
          </a:bodyPr>
          <a:lstStyle/>
          <a:p>
            <a:r>
              <a:rPr lang="en-US" sz="3200" b="1" dirty="0">
                <a:latin typeface="Times New Roman" panose="02020603050405020304" pitchFamily="18" charset="0"/>
                <a:cs typeface="Times New Roman" panose="02020603050405020304" pitchFamily="18" charset="0"/>
              </a:rPr>
              <a:t>Problem Statement</a:t>
            </a:r>
            <a:endParaRPr lang="en-IN" sz="3200" b="1"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D8BB95E5-44D6-5628-167E-BC6C1D6667E5}"/>
              </a:ext>
            </a:extLst>
          </p:cNvPr>
          <p:cNvSpPr txBox="1"/>
          <p:nvPr/>
        </p:nvSpPr>
        <p:spPr>
          <a:xfrm>
            <a:off x="1296894" y="1428662"/>
            <a:ext cx="9478682" cy="5576976"/>
          </a:xfrm>
          <a:prstGeom prst="rect">
            <a:avLst/>
          </a:prstGeom>
          <a:noFill/>
        </p:spPr>
        <p:txBody>
          <a:bodyPr wrap="square">
            <a:spAutoFit/>
          </a:bodyPr>
          <a:lstStyle/>
          <a:p>
            <a:pPr marL="342900" lvl="0" indent="-342900" algn="just">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Students often struggle to manage their monthly allowance while balancing daily expenses and savings.</a:t>
            </a:r>
          </a:p>
          <a:p>
            <a:pPr marL="342900" lvl="0" indent="-342900" algn="just">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Traditional expense trackers record spending but do not provide adaptive spending limits or personalized budgeting guidance.</a:t>
            </a:r>
          </a:p>
          <a:p>
            <a:pPr marL="342900" lvl="0" indent="-342900" algn="just">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Unnecessary expenses and poor financial planning can lead to insufficient funds for essential needs and unexpected situations.</a:t>
            </a:r>
          </a:p>
          <a:p>
            <a:pPr marL="342900" lvl="0" indent="-342900" algn="just">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Students lack a simple way to evaluate future purchases, adjust budgets, and manage multiple savings goals together.</a:t>
            </a:r>
          </a:p>
          <a:p>
            <a:pPr marL="342900" lvl="0" indent="-342900" algn="just">
              <a:lnSpc>
                <a:spcPct val="150000"/>
              </a:lnSpc>
              <a:buFont typeface="Arial" panose="020B0604020202020204" pitchFamily="34" charset="0"/>
              <a:buChar char="•"/>
            </a:pPr>
            <a:r>
              <a:rPr lang="en-IN" sz="2000" b="1" dirty="0" err="1">
                <a:latin typeface="Times New Roman" panose="02020603050405020304" pitchFamily="18" charset="0"/>
                <a:cs typeface="Times New Roman" panose="02020603050405020304" pitchFamily="18" charset="0"/>
              </a:rPr>
              <a:t>BudgetBuddy</a:t>
            </a:r>
            <a:r>
              <a:rPr lang="en-IN" sz="2000" dirty="0">
                <a:latin typeface="Times New Roman" panose="02020603050405020304" pitchFamily="18" charset="0"/>
                <a:cs typeface="Times New Roman" panose="02020603050405020304" pitchFamily="18" charset="0"/>
              </a:rPr>
              <a:t> addresses these challenges by providing adaptive budgeting, spending analysis, financial risk simulation, and goal-based savings optimization using Object-Oriented C++.</a:t>
            </a:r>
          </a:p>
          <a:p>
            <a:pPr marL="342900" indent="-342900" algn="just">
              <a:lnSpc>
                <a:spcPct val="150000"/>
              </a:lnSpc>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6450607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792539-2A98-CD14-C3CD-3DEFFF6BCD51}"/>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F9B82474-DAB5-4A07-43CC-BBD91E46C49C}"/>
              </a:ext>
            </a:extLst>
          </p:cNvPr>
          <p:cNvPicPr>
            <a:picLocks noChangeAspect="1"/>
          </p:cNvPicPr>
          <p:nvPr/>
        </p:nvPicPr>
        <p:blipFill>
          <a:blip r:embed="rId2"/>
          <a:stretch>
            <a:fillRect/>
          </a:stretch>
        </p:blipFill>
        <p:spPr>
          <a:xfrm>
            <a:off x="495764" y="205558"/>
            <a:ext cx="1114361" cy="1293043"/>
          </a:xfrm>
          <a:prstGeom prst="rect">
            <a:avLst/>
          </a:prstGeom>
        </p:spPr>
      </p:pic>
      <p:pic>
        <p:nvPicPr>
          <p:cNvPr id="3" name="Picture 2">
            <a:extLst>
              <a:ext uri="{FF2B5EF4-FFF2-40B4-BE49-F238E27FC236}">
                <a16:creationId xmlns:a16="http://schemas.microsoft.com/office/drawing/2014/main" id="{A016F4C9-4479-A8E0-37F2-997A65E13CF6}"/>
              </a:ext>
            </a:extLst>
          </p:cNvPr>
          <p:cNvPicPr>
            <a:picLocks noChangeAspect="1"/>
          </p:cNvPicPr>
          <p:nvPr/>
        </p:nvPicPr>
        <p:blipFill>
          <a:blip r:embed="rId3"/>
          <a:stretch>
            <a:fillRect/>
          </a:stretch>
        </p:blipFill>
        <p:spPr>
          <a:xfrm>
            <a:off x="10551008" y="228690"/>
            <a:ext cx="1348892" cy="1199972"/>
          </a:xfrm>
          <a:prstGeom prst="rect">
            <a:avLst/>
          </a:prstGeom>
        </p:spPr>
      </p:pic>
      <p:sp>
        <p:nvSpPr>
          <p:cNvPr id="5" name="TextBox 4">
            <a:extLst>
              <a:ext uri="{FF2B5EF4-FFF2-40B4-BE49-F238E27FC236}">
                <a16:creationId xmlns:a16="http://schemas.microsoft.com/office/drawing/2014/main" id="{30F6BFCB-6EB2-CBDF-9B41-F9AFD29BA009}"/>
              </a:ext>
            </a:extLst>
          </p:cNvPr>
          <p:cNvSpPr txBox="1"/>
          <p:nvPr/>
        </p:nvSpPr>
        <p:spPr>
          <a:xfrm>
            <a:off x="4485482" y="559691"/>
            <a:ext cx="3190169" cy="584775"/>
          </a:xfrm>
          <a:prstGeom prst="rect">
            <a:avLst/>
          </a:prstGeom>
          <a:noFill/>
        </p:spPr>
        <p:txBody>
          <a:bodyPr wrap="square">
            <a:spAutoFit/>
          </a:bodyPr>
          <a:lstStyle/>
          <a:p>
            <a:r>
              <a:rPr lang="en-IN" sz="3200" b="1" dirty="0">
                <a:latin typeface="Times New Roman" panose="02020603050405020304" pitchFamily="18" charset="0"/>
                <a:cs typeface="Times New Roman" panose="02020603050405020304" pitchFamily="18" charset="0"/>
              </a:rPr>
              <a:t>Proposed System</a:t>
            </a:r>
          </a:p>
        </p:txBody>
      </p:sp>
      <p:sp>
        <p:nvSpPr>
          <p:cNvPr id="6" name="TextBox 5">
            <a:extLst>
              <a:ext uri="{FF2B5EF4-FFF2-40B4-BE49-F238E27FC236}">
                <a16:creationId xmlns:a16="http://schemas.microsoft.com/office/drawing/2014/main" id="{B80AE43C-20A5-590E-80F4-3D7A256674BE}"/>
              </a:ext>
            </a:extLst>
          </p:cNvPr>
          <p:cNvSpPr txBox="1"/>
          <p:nvPr/>
        </p:nvSpPr>
        <p:spPr>
          <a:xfrm>
            <a:off x="1052944" y="1536412"/>
            <a:ext cx="10094259" cy="5115311"/>
          </a:xfrm>
          <a:prstGeom prst="rect">
            <a:avLst/>
          </a:prstGeom>
          <a:noFill/>
        </p:spPr>
        <p:txBody>
          <a:bodyPr wrap="square">
            <a:spAutoFit/>
          </a:bodyPr>
          <a:lstStyle/>
          <a:p>
            <a:pPr marL="342900" lvl="0" indent="-342900" algn="just">
              <a:lnSpc>
                <a:spcPct val="150000"/>
              </a:lnSpc>
              <a:buFont typeface="Arial" panose="020B0604020202020204" pitchFamily="34" charset="0"/>
              <a:buChar char="•"/>
            </a:pPr>
            <a:r>
              <a:rPr lang="en-IN" sz="2000" dirty="0" err="1">
                <a:latin typeface="Times New Roman" panose="02020603050405020304" pitchFamily="18" charset="0"/>
                <a:cs typeface="Times New Roman" panose="02020603050405020304" pitchFamily="18" charset="0"/>
              </a:rPr>
              <a:t>BudgetBuddy</a:t>
            </a:r>
            <a:r>
              <a:rPr lang="en-IN" sz="2000" dirty="0">
                <a:latin typeface="Times New Roman" panose="02020603050405020304" pitchFamily="18" charset="0"/>
                <a:cs typeface="Times New Roman" panose="02020603050405020304" pitchFamily="18" charset="0"/>
              </a:rPr>
              <a:t> is an Object-Oriented C++ system that helps students manage allowances, track expenses, and plan savings through four integrated modules.</a:t>
            </a:r>
          </a:p>
          <a:p>
            <a:pPr marL="342900" lvl="0" indent="-342900" algn="just">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It </a:t>
            </a:r>
            <a:r>
              <a:rPr lang="en-IN" sz="2000" dirty="0" err="1">
                <a:latin typeface="Times New Roman" panose="02020603050405020304" pitchFamily="18" charset="0"/>
                <a:cs typeface="Times New Roman" panose="02020603050405020304" pitchFamily="18" charset="0"/>
              </a:rPr>
              <a:t>analyzes</a:t>
            </a:r>
            <a:r>
              <a:rPr lang="en-IN" sz="2000" dirty="0">
                <a:latin typeface="Times New Roman" panose="02020603050405020304" pitchFamily="18" charset="0"/>
                <a:cs typeface="Times New Roman" panose="02020603050405020304" pitchFamily="18" charset="0"/>
              </a:rPr>
              <a:t> 7-day and 30-day spending patterns to calculate adaptive safe-spending limits and distribute available funds effectively.</a:t>
            </a:r>
          </a:p>
          <a:p>
            <a:pPr marL="342900" lvl="0" indent="-342900" algn="just">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It identifies spending leakage, compares weekly expenses, and prioritizes essential needs over discretionary spending.</a:t>
            </a:r>
          </a:p>
          <a:p>
            <a:pPr marL="342900" lvl="0" indent="-342900" algn="just">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It simulates proposed purchases and unexpected expenses to evaluate affordability and suggest budget adjustments.</a:t>
            </a:r>
          </a:p>
          <a:p>
            <a:pPr marL="342900" lvl="0" indent="-342900" algn="just">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Unlike traditional expense trackers, </a:t>
            </a:r>
            <a:r>
              <a:rPr lang="en-IN" sz="2000" dirty="0" err="1">
                <a:latin typeface="Times New Roman" panose="02020603050405020304" pitchFamily="18" charset="0"/>
                <a:cs typeface="Times New Roman" panose="02020603050405020304" pitchFamily="18" charset="0"/>
              </a:rPr>
              <a:t>BudgetBuddy</a:t>
            </a:r>
            <a:r>
              <a:rPr lang="en-IN" sz="2000" dirty="0">
                <a:latin typeface="Times New Roman" panose="02020603050405020304" pitchFamily="18" charset="0"/>
                <a:cs typeface="Times New Roman" panose="02020603050405020304" pitchFamily="18" charset="0"/>
              </a:rPr>
              <a:t> combines adaptive budgeting, financial risk simulation, and goal-based savings optimization to support proactive financial planning.</a:t>
            </a:r>
          </a:p>
          <a:p>
            <a:pPr marL="342900" indent="-342900">
              <a:lnSpc>
                <a:spcPct val="150000"/>
              </a:lnSpc>
              <a:buFont typeface="Arial" panose="020B0604020202020204" pitchFamily="34" charset="0"/>
              <a:buChar char="•"/>
            </a:pP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987815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8642A2-1601-90AC-D8BB-5D39A4DB8B5B}"/>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9EFB09D7-EB60-5665-6148-DE70073075D2}"/>
              </a:ext>
            </a:extLst>
          </p:cNvPr>
          <p:cNvPicPr>
            <a:picLocks noChangeAspect="1"/>
          </p:cNvPicPr>
          <p:nvPr/>
        </p:nvPicPr>
        <p:blipFill>
          <a:blip r:embed="rId2"/>
          <a:stretch>
            <a:fillRect/>
          </a:stretch>
        </p:blipFill>
        <p:spPr>
          <a:xfrm>
            <a:off x="495764" y="205558"/>
            <a:ext cx="1114361" cy="1293043"/>
          </a:xfrm>
          <a:prstGeom prst="rect">
            <a:avLst/>
          </a:prstGeom>
        </p:spPr>
      </p:pic>
      <p:pic>
        <p:nvPicPr>
          <p:cNvPr id="3" name="Picture 2">
            <a:extLst>
              <a:ext uri="{FF2B5EF4-FFF2-40B4-BE49-F238E27FC236}">
                <a16:creationId xmlns:a16="http://schemas.microsoft.com/office/drawing/2014/main" id="{6AEB82DE-CE03-2DC7-E584-997439859B84}"/>
              </a:ext>
            </a:extLst>
          </p:cNvPr>
          <p:cNvPicPr>
            <a:picLocks noChangeAspect="1"/>
          </p:cNvPicPr>
          <p:nvPr/>
        </p:nvPicPr>
        <p:blipFill>
          <a:blip r:embed="rId3"/>
          <a:stretch>
            <a:fillRect/>
          </a:stretch>
        </p:blipFill>
        <p:spPr>
          <a:xfrm>
            <a:off x="10551008" y="228690"/>
            <a:ext cx="1348892" cy="1199972"/>
          </a:xfrm>
          <a:prstGeom prst="rect">
            <a:avLst/>
          </a:prstGeom>
        </p:spPr>
      </p:pic>
      <p:sp>
        <p:nvSpPr>
          <p:cNvPr id="5" name="TextBox 4">
            <a:extLst>
              <a:ext uri="{FF2B5EF4-FFF2-40B4-BE49-F238E27FC236}">
                <a16:creationId xmlns:a16="http://schemas.microsoft.com/office/drawing/2014/main" id="{61874360-4AB9-5214-7939-FC34171708D7}"/>
              </a:ext>
            </a:extLst>
          </p:cNvPr>
          <p:cNvSpPr txBox="1"/>
          <p:nvPr/>
        </p:nvSpPr>
        <p:spPr>
          <a:xfrm>
            <a:off x="4480477" y="449155"/>
            <a:ext cx="3472677" cy="584775"/>
          </a:xfrm>
          <a:prstGeom prst="rect">
            <a:avLst/>
          </a:prstGeom>
          <a:noFill/>
        </p:spPr>
        <p:txBody>
          <a:bodyPr wrap="square">
            <a:spAutoFit/>
          </a:bodyPr>
          <a:lstStyle/>
          <a:p>
            <a:r>
              <a:rPr lang="en-US" sz="3200" b="1" dirty="0">
                <a:latin typeface="Times New Roman" panose="02020603050405020304" pitchFamily="18" charset="0"/>
                <a:cs typeface="Times New Roman" panose="02020603050405020304" pitchFamily="18" charset="0"/>
              </a:rPr>
              <a:t>Literature Review</a:t>
            </a:r>
            <a:endParaRPr lang="en-IN" sz="3200" b="1" dirty="0">
              <a:latin typeface="Times New Roman" panose="02020603050405020304" pitchFamily="18" charset="0"/>
              <a:cs typeface="Times New Roman" panose="02020603050405020304" pitchFamily="18" charset="0"/>
            </a:endParaRPr>
          </a:p>
        </p:txBody>
      </p:sp>
      <p:graphicFrame>
        <p:nvGraphicFramePr>
          <p:cNvPr id="4" name="Table 3">
            <a:extLst>
              <a:ext uri="{FF2B5EF4-FFF2-40B4-BE49-F238E27FC236}">
                <a16:creationId xmlns:a16="http://schemas.microsoft.com/office/drawing/2014/main" id="{1C25090C-53AB-31D4-6355-93EF2E611F48}"/>
              </a:ext>
            </a:extLst>
          </p:cNvPr>
          <p:cNvGraphicFramePr>
            <a:graphicFrameLocks noGrp="1"/>
          </p:cNvGraphicFramePr>
          <p:nvPr>
            <p:extLst>
              <p:ext uri="{D42A27DB-BD31-4B8C-83A1-F6EECF244321}">
                <p14:modId xmlns:p14="http://schemas.microsoft.com/office/powerpoint/2010/main" val="557416101"/>
              </p:ext>
            </p:extLst>
          </p:nvPr>
        </p:nvGraphicFramePr>
        <p:xfrm>
          <a:off x="1777388" y="1498601"/>
          <a:ext cx="8773620" cy="4351337"/>
        </p:xfrm>
        <a:graphic>
          <a:graphicData uri="http://schemas.openxmlformats.org/drawingml/2006/table">
            <a:tbl>
              <a:tblPr>
                <a:tableStyleId>{5C22544A-7EE6-4342-B048-85BDC9FD1C3A}</a:tableStyleId>
              </a:tblPr>
              <a:tblGrid>
                <a:gridCol w="834498">
                  <a:extLst>
                    <a:ext uri="{9D8B030D-6E8A-4147-A177-3AD203B41FA5}">
                      <a16:colId xmlns:a16="http://schemas.microsoft.com/office/drawing/2014/main" val="2525579352"/>
                    </a:ext>
                  </a:extLst>
                </a:gridCol>
                <a:gridCol w="1713465">
                  <a:extLst>
                    <a:ext uri="{9D8B030D-6E8A-4147-A177-3AD203B41FA5}">
                      <a16:colId xmlns:a16="http://schemas.microsoft.com/office/drawing/2014/main" val="4240056520"/>
                    </a:ext>
                  </a:extLst>
                </a:gridCol>
                <a:gridCol w="3001440">
                  <a:extLst>
                    <a:ext uri="{9D8B030D-6E8A-4147-A177-3AD203B41FA5}">
                      <a16:colId xmlns:a16="http://schemas.microsoft.com/office/drawing/2014/main" val="6095511"/>
                    </a:ext>
                  </a:extLst>
                </a:gridCol>
                <a:gridCol w="3224217">
                  <a:extLst>
                    <a:ext uri="{9D8B030D-6E8A-4147-A177-3AD203B41FA5}">
                      <a16:colId xmlns:a16="http://schemas.microsoft.com/office/drawing/2014/main" val="4220765002"/>
                    </a:ext>
                  </a:extLst>
                </a:gridCol>
              </a:tblGrid>
              <a:tr h="252251">
                <a:tc>
                  <a:txBody>
                    <a:bodyPr/>
                    <a:lstStyle/>
                    <a:p>
                      <a:pPr algn="ctr">
                        <a:buNone/>
                      </a:pPr>
                      <a:r>
                        <a:rPr lang="en-IN" sz="1200" dirty="0"/>
                        <a:t>Year</a:t>
                      </a:r>
                    </a:p>
                  </a:txBody>
                  <a:tcPr marL="63063" marR="63063" marT="31531" marB="31531" anchor="ctr"/>
                </a:tc>
                <a:tc>
                  <a:txBody>
                    <a:bodyPr/>
                    <a:lstStyle/>
                    <a:p>
                      <a:pPr algn="ctr">
                        <a:buNone/>
                      </a:pPr>
                      <a:r>
                        <a:rPr lang="en-IN" sz="1200"/>
                        <a:t>Author(s)</a:t>
                      </a:r>
                    </a:p>
                  </a:txBody>
                  <a:tcPr marL="63063" marR="63063" marT="31531" marB="31531" anchor="ctr"/>
                </a:tc>
                <a:tc>
                  <a:txBody>
                    <a:bodyPr/>
                    <a:lstStyle/>
                    <a:p>
                      <a:pPr algn="ctr">
                        <a:buNone/>
                      </a:pPr>
                      <a:r>
                        <a:rPr lang="en-IN" sz="1200"/>
                        <a:t>Findings</a:t>
                      </a:r>
                    </a:p>
                  </a:txBody>
                  <a:tcPr marL="63063" marR="63063" marT="31531" marB="31531" anchor="ctr"/>
                </a:tc>
                <a:tc>
                  <a:txBody>
                    <a:bodyPr/>
                    <a:lstStyle/>
                    <a:p>
                      <a:pPr algn="ctr">
                        <a:buNone/>
                      </a:pPr>
                      <a:r>
                        <a:rPr lang="en-IN" sz="1200" dirty="0"/>
                        <a:t>Research Gap</a:t>
                      </a:r>
                    </a:p>
                  </a:txBody>
                  <a:tcPr marL="63063" marR="63063" marT="31531" marB="31531" anchor="ctr"/>
                </a:tc>
                <a:extLst>
                  <a:ext uri="{0D108BD9-81ED-4DB2-BD59-A6C34878D82A}">
                    <a16:rowId xmlns:a16="http://schemas.microsoft.com/office/drawing/2014/main" val="2422976207"/>
                  </a:ext>
                </a:extLst>
              </a:tr>
              <a:tr h="819817">
                <a:tc>
                  <a:txBody>
                    <a:bodyPr/>
                    <a:lstStyle/>
                    <a:p>
                      <a:pPr>
                        <a:buNone/>
                      </a:pPr>
                      <a:r>
                        <a:rPr lang="en-IN" sz="1200"/>
                        <a:t>2024</a:t>
                      </a:r>
                    </a:p>
                  </a:txBody>
                  <a:tcPr marL="63063" marR="63063" marT="31531" marB="31531" anchor="ctr"/>
                </a:tc>
                <a:tc>
                  <a:txBody>
                    <a:bodyPr/>
                    <a:lstStyle/>
                    <a:p>
                      <a:pPr>
                        <a:buNone/>
                      </a:pPr>
                      <a:r>
                        <a:rPr lang="en-IN" sz="1200" dirty="0"/>
                        <a:t>Tan et al.</a:t>
                      </a:r>
                    </a:p>
                  </a:txBody>
                  <a:tcPr marL="63063" marR="63063" marT="31531" marB="31531" anchor="ctr"/>
                </a:tc>
                <a:tc>
                  <a:txBody>
                    <a:bodyPr/>
                    <a:lstStyle/>
                    <a:p>
                      <a:pPr>
                        <a:buNone/>
                      </a:pPr>
                      <a:r>
                        <a:rPr lang="en-IN" sz="1200"/>
                        <a:t>Financial education and attitudes influence students' budgeting behavior.</a:t>
                      </a:r>
                    </a:p>
                  </a:txBody>
                  <a:tcPr marL="63063" marR="63063" marT="31531" marB="31531" anchor="ctr"/>
                </a:tc>
                <a:tc>
                  <a:txBody>
                    <a:bodyPr/>
                    <a:lstStyle/>
                    <a:p>
                      <a:pPr>
                        <a:buNone/>
                      </a:pPr>
                      <a:r>
                        <a:rPr lang="en-IN" sz="1200"/>
                        <a:t>Lacks an adaptive system for personalized spending limits and budget optimization.</a:t>
                      </a:r>
                    </a:p>
                  </a:txBody>
                  <a:tcPr marL="63063" marR="63063" marT="31531" marB="31531" anchor="ctr"/>
                </a:tc>
                <a:extLst>
                  <a:ext uri="{0D108BD9-81ED-4DB2-BD59-A6C34878D82A}">
                    <a16:rowId xmlns:a16="http://schemas.microsoft.com/office/drawing/2014/main" val="3630537513"/>
                  </a:ext>
                </a:extLst>
              </a:tr>
              <a:tr h="819817">
                <a:tc>
                  <a:txBody>
                    <a:bodyPr/>
                    <a:lstStyle/>
                    <a:p>
                      <a:pPr>
                        <a:buNone/>
                      </a:pPr>
                      <a:r>
                        <a:rPr lang="en-IN" sz="1200"/>
                        <a:t>2024</a:t>
                      </a:r>
                    </a:p>
                  </a:txBody>
                  <a:tcPr marL="63063" marR="63063" marT="31531" marB="31531" anchor="ctr"/>
                </a:tc>
                <a:tc>
                  <a:txBody>
                    <a:bodyPr/>
                    <a:lstStyle/>
                    <a:p>
                      <a:pPr>
                        <a:buNone/>
                      </a:pPr>
                      <a:r>
                        <a:rPr lang="en-IN" sz="1200" dirty="0"/>
                        <a:t>Cappelli et al.</a:t>
                      </a:r>
                    </a:p>
                  </a:txBody>
                  <a:tcPr marL="63063" marR="63063" marT="31531" marB="31531" anchor="ctr"/>
                </a:tc>
                <a:tc>
                  <a:txBody>
                    <a:bodyPr/>
                    <a:lstStyle/>
                    <a:p>
                      <a:pPr>
                        <a:buNone/>
                      </a:pPr>
                      <a:r>
                        <a:rPr lang="en-IN" sz="1200" dirty="0"/>
                        <a:t>Identified budgeting, saving, and spending as important student financial </a:t>
                      </a:r>
                      <a:r>
                        <a:rPr lang="en-IN" sz="1200" dirty="0" err="1"/>
                        <a:t>behaviors</a:t>
                      </a:r>
                      <a:r>
                        <a:rPr lang="en-IN" sz="1200" dirty="0"/>
                        <a:t>.</a:t>
                      </a:r>
                    </a:p>
                  </a:txBody>
                  <a:tcPr marL="63063" marR="63063" marT="31531" marB="31531" anchor="ctr"/>
                </a:tc>
                <a:tc>
                  <a:txBody>
                    <a:bodyPr/>
                    <a:lstStyle/>
                    <a:p>
                      <a:pPr>
                        <a:buNone/>
                      </a:pPr>
                      <a:r>
                        <a:rPr lang="en-IN" sz="1200"/>
                        <a:t>Does not develop an integrated financial decision-support application.</a:t>
                      </a:r>
                    </a:p>
                  </a:txBody>
                  <a:tcPr marL="63063" marR="63063" marT="31531" marB="31531" anchor="ctr"/>
                </a:tc>
                <a:extLst>
                  <a:ext uri="{0D108BD9-81ED-4DB2-BD59-A6C34878D82A}">
                    <a16:rowId xmlns:a16="http://schemas.microsoft.com/office/drawing/2014/main" val="567929538"/>
                  </a:ext>
                </a:extLst>
              </a:tr>
              <a:tr h="630629">
                <a:tc>
                  <a:txBody>
                    <a:bodyPr/>
                    <a:lstStyle/>
                    <a:p>
                      <a:pPr>
                        <a:buNone/>
                      </a:pPr>
                      <a:r>
                        <a:rPr lang="en-IN" sz="1200"/>
                        <a:t>2023</a:t>
                      </a:r>
                    </a:p>
                  </a:txBody>
                  <a:tcPr marL="63063" marR="63063" marT="31531" marB="31531" anchor="ctr"/>
                </a:tc>
                <a:tc>
                  <a:txBody>
                    <a:bodyPr/>
                    <a:lstStyle/>
                    <a:p>
                      <a:pPr>
                        <a:buNone/>
                      </a:pPr>
                      <a:r>
                        <a:rPr lang="en-IN" sz="1200"/>
                        <a:t>Mazlan &amp; Abdul Hamid</a:t>
                      </a:r>
                    </a:p>
                  </a:txBody>
                  <a:tcPr marL="63063" marR="63063" marT="31531" marB="31531" anchor="ctr"/>
                </a:tc>
                <a:tc>
                  <a:txBody>
                    <a:bodyPr/>
                    <a:lstStyle/>
                    <a:p>
                      <a:pPr>
                        <a:buNone/>
                      </a:pPr>
                      <a:r>
                        <a:rPr lang="en-IN" sz="1200" dirty="0"/>
                        <a:t>Developed </a:t>
                      </a:r>
                      <a:r>
                        <a:rPr lang="en-IN" sz="1200" dirty="0" err="1"/>
                        <a:t>Budgetify</a:t>
                      </a:r>
                      <a:r>
                        <a:rPr lang="en-IN" sz="1200" dirty="0"/>
                        <a:t> to help students track daily expenses and savings.</a:t>
                      </a:r>
                    </a:p>
                  </a:txBody>
                  <a:tcPr marL="63063" marR="63063" marT="31531" marB="31531" anchor="ctr"/>
                </a:tc>
                <a:tc>
                  <a:txBody>
                    <a:bodyPr/>
                    <a:lstStyle/>
                    <a:p>
                      <a:pPr>
                        <a:buNone/>
                      </a:pPr>
                      <a:r>
                        <a:rPr lang="en-IN" sz="1200"/>
                        <a:t>Does not include dynamic budgeting or financial risk simulation.</a:t>
                      </a:r>
                    </a:p>
                  </a:txBody>
                  <a:tcPr marL="63063" marR="63063" marT="31531" marB="31531" anchor="ctr"/>
                </a:tc>
                <a:extLst>
                  <a:ext uri="{0D108BD9-81ED-4DB2-BD59-A6C34878D82A}">
                    <a16:rowId xmlns:a16="http://schemas.microsoft.com/office/drawing/2014/main" val="3779516635"/>
                  </a:ext>
                </a:extLst>
              </a:tr>
              <a:tr h="1009006">
                <a:tc>
                  <a:txBody>
                    <a:bodyPr/>
                    <a:lstStyle/>
                    <a:p>
                      <a:pPr>
                        <a:buNone/>
                      </a:pPr>
                      <a:r>
                        <a:rPr lang="en-IN" sz="1200"/>
                        <a:t>2023</a:t>
                      </a:r>
                    </a:p>
                  </a:txBody>
                  <a:tcPr marL="63063" marR="63063" marT="31531" marB="31531" anchor="ctr"/>
                </a:tc>
                <a:tc>
                  <a:txBody>
                    <a:bodyPr/>
                    <a:lstStyle/>
                    <a:p>
                      <a:pPr>
                        <a:buNone/>
                      </a:pPr>
                      <a:r>
                        <a:rPr lang="en-IN" sz="1200"/>
                        <a:t>Dahiya et al.</a:t>
                      </a:r>
                    </a:p>
                  </a:txBody>
                  <a:tcPr marL="63063" marR="63063" marT="31531" marB="31531" anchor="ctr"/>
                </a:tc>
                <a:tc>
                  <a:txBody>
                    <a:bodyPr/>
                    <a:lstStyle/>
                    <a:p>
                      <a:pPr>
                        <a:buNone/>
                      </a:pPr>
                      <a:r>
                        <a:rPr lang="en-IN" sz="1200" dirty="0"/>
                        <a:t>Found low financial literacy among surveyed Indian college students.</a:t>
                      </a:r>
                    </a:p>
                  </a:txBody>
                  <a:tcPr marL="63063" marR="63063" marT="31531" marB="31531" anchor="ctr"/>
                </a:tc>
                <a:tc>
                  <a:txBody>
                    <a:bodyPr/>
                    <a:lstStyle/>
                    <a:p>
                      <a:pPr>
                        <a:buNone/>
                      </a:pPr>
                      <a:r>
                        <a:rPr lang="en-IN" sz="1200" dirty="0"/>
                        <a:t>Does not propose an automated system for expense prioritization and savings optimization.</a:t>
                      </a:r>
                    </a:p>
                  </a:txBody>
                  <a:tcPr marL="63063" marR="63063" marT="31531" marB="31531" anchor="ctr"/>
                </a:tc>
                <a:extLst>
                  <a:ext uri="{0D108BD9-81ED-4DB2-BD59-A6C34878D82A}">
                    <a16:rowId xmlns:a16="http://schemas.microsoft.com/office/drawing/2014/main" val="3912823053"/>
                  </a:ext>
                </a:extLst>
              </a:tr>
              <a:tr h="819817">
                <a:tc>
                  <a:txBody>
                    <a:bodyPr/>
                    <a:lstStyle/>
                    <a:p>
                      <a:pPr>
                        <a:buNone/>
                      </a:pPr>
                      <a:r>
                        <a:rPr lang="en-IN" sz="1200"/>
                        <a:t>2022</a:t>
                      </a:r>
                    </a:p>
                  </a:txBody>
                  <a:tcPr marL="63063" marR="63063" marT="31531" marB="31531" anchor="ctr"/>
                </a:tc>
                <a:tc>
                  <a:txBody>
                    <a:bodyPr/>
                    <a:lstStyle/>
                    <a:p>
                      <a:pPr>
                        <a:buNone/>
                      </a:pPr>
                      <a:r>
                        <a:rPr lang="en-IN" sz="1200"/>
                        <a:t>Khalisharani et al.</a:t>
                      </a:r>
                    </a:p>
                  </a:txBody>
                  <a:tcPr marL="63063" marR="63063" marT="31531" marB="31531" anchor="ctr"/>
                </a:tc>
                <a:tc>
                  <a:txBody>
                    <a:bodyPr/>
                    <a:lstStyle/>
                    <a:p>
                      <a:pPr>
                        <a:buNone/>
                      </a:pPr>
                      <a:r>
                        <a:rPr lang="en-IN" sz="1200"/>
                        <a:t>Studied how financial literacy and attitudes influence undergraduate financial behavior.</a:t>
                      </a:r>
                    </a:p>
                  </a:txBody>
                  <a:tcPr marL="63063" marR="63063" marT="31531" marB="31531" anchor="ctr"/>
                </a:tc>
                <a:tc>
                  <a:txBody>
                    <a:bodyPr/>
                    <a:lstStyle/>
                    <a:p>
                      <a:pPr>
                        <a:buNone/>
                      </a:pPr>
                      <a:r>
                        <a:rPr lang="en-IN" sz="1200" dirty="0"/>
                        <a:t>Does not implement personalized allowance management or predictive budgeting.</a:t>
                      </a:r>
                    </a:p>
                  </a:txBody>
                  <a:tcPr marL="63063" marR="63063" marT="31531" marB="31531" anchor="ctr"/>
                </a:tc>
                <a:extLst>
                  <a:ext uri="{0D108BD9-81ED-4DB2-BD59-A6C34878D82A}">
                    <a16:rowId xmlns:a16="http://schemas.microsoft.com/office/drawing/2014/main" val="2173704671"/>
                  </a:ext>
                </a:extLst>
              </a:tr>
            </a:tbl>
          </a:graphicData>
        </a:graphic>
      </p:graphicFrame>
    </p:spTree>
    <p:extLst>
      <p:ext uri="{BB962C8B-B14F-4D97-AF65-F5344CB8AC3E}">
        <p14:creationId xmlns:p14="http://schemas.microsoft.com/office/powerpoint/2010/main" val="33744166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15A9B5-BA87-7725-F68C-C77181A6229E}"/>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A0CF4458-0928-01BE-1541-B49E66E36647}"/>
              </a:ext>
            </a:extLst>
          </p:cNvPr>
          <p:cNvPicPr>
            <a:picLocks noChangeAspect="1"/>
          </p:cNvPicPr>
          <p:nvPr/>
        </p:nvPicPr>
        <p:blipFill>
          <a:blip r:embed="rId2"/>
          <a:stretch>
            <a:fillRect/>
          </a:stretch>
        </p:blipFill>
        <p:spPr>
          <a:xfrm>
            <a:off x="495764" y="205558"/>
            <a:ext cx="1114361" cy="1293043"/>
          </a:xfrm>
          <a:prstGeom prst="rect">
            <a:avLst/>
          </a:prstGeom>
        </p:spPr>
      </p:pic>
      <p:pic>
        <p:nvPicPr>
          <p:cNvPr id="3" name="Picture 2">
            <a:extLst>
              <a:ext uri="{FF2B5EF4-FFF2-40B4-BE49-F238E27FC236}">
                <a16:creationId xmlns:a16="http://schemas.microsoft.com/office/drawing/2014/main" id="{9FF31A91-5571-C399-6FB0-946FD1CFEFA8}"/>
              </a:ext>
            </a:extLst>
          </p:cNvPr>
          <p:cNvPicPr>
            <a:picLocks noChangeAspect="1"/>
          </p:cNvPicPr>
          <p:nvPr/>
        </p:nvPicPr>
        <p:blipFill>
          <a:blip r:embed="rId3"/>
          <a:stretch>
            <a:fillRect/>
          </a:stretch>
        </p:blipFill>
        <p:spPr>
          <a:xfrm>
            <a:off x="10551008" y="228690"/>
            <a:ext cx="1348892" cy="1199972"/>
          </a:xfrm>
          <a:prstGeom prst="rect">
            <a:avLst/>
          </a:prstGeom>
        </p:spPr>
      </p:pic>
      <p:sp>
        <p:nvSpPr>
          <p:cNvPr id="5" name="TextBox 4">
            <a:extLst>
              <a:ext uri="{FF2B5EF4-FFF2-40B4-BE49-F238E27FC236}">
                <a16:creationId xmlns:a16="http://schemas.microsoft.com/office/drawing/2014/main" id="{050E8C8B-F9A6-1D15-A6F5-EE2FD75160D2}"/>
              </a:ext>
            </a:extLst>
          </p:cNvPr>
          <p:cNvSpPr txBox="1"/>
          <p:nvPr/>
        </p:nvSpPr>
        <p:spPr>
          <a:xfrm>
            <a:off x="3406588" y="267304"/>
            <a:ext cx="5378824" cy="584775"/>
          </a:xfrm>
          <a:prstGeom prst="rect">
            <a:avLst/>
          </a:prstGeom>
          <a:noFill/>
        </p:spPr>
        <p:txBody>
          <a:bodyPr wrap="square">
            <a:spAutoFit/>
          </a:bodyPr>
          <a:lstStyle/>
          <a:p>
            <a:r>
              <a:rPr lang="en-US" sz="3200" b="1" dirty="0">
                <a:latin typeface="Times New Roman" panose="02020603050405020304" pitchFamily="18" charset="0"/>
                <a:cs typeface="Times New Roman" panose="02020603050405020304" pitchFamily="18" charset="0"/>
              </a:rPr>
              <a:t>System Architecture Diagram</a:t>
            </a:r>
            <a:endParaRPr lang="en-IN" sz="3200" b="1" dirty="0">
              <a:latin typeface="Times New Roman" panose="02020603050405020304" pitchFamily="18" charset="0"/>
              <a:cs typeface="Times New Roman" panose="02020603050405020304" pitchFamily="18" charset="0"/>
            </a:endParaRPr>
          </a:p>
        </p:txBody>
      </p:sp>
      <p:pic>
        <p:nvPicPr>
          <p:cNvPr id="7" name="Picture 6" descr="The image illustrates a layered architecture for BudgetBuddy, featuring a user interface, application services, expense intelligence modules, and a data layer, all aimed at managing personal finances and budgeting.&#10;&#10;AI-generated content may be incorrect.">
            <a:extLst>
              <a:ext uri="{FF2B5EF4-FFF2-40B4-BE49-F238E27FC236}">
                <a16:creationId xmlns:a16="http://schemas.microsoft.com/office/drawing/2014/main" id="{628EE73F-F4FF-220F-0EEE-AD4DF9A49283}"/>
              </a:ext>
            </a:extLst>
          </p:cNvPr>
          <p:cNvPicPr>
            <a:picLocks noChangeAspect="1"/>
          </p:cNvPicPr>
          <p:nvPr/>
        </p:nvPicPr>
        <p:blipFill>
          <a:blip r:embed="rId4"/>
          <a:stretch>
            <a:fillRect/>
          </a:stretch>
        </p:blipFill>
        <p:spPr>
          <a:xfrm>
            <a:off x="1610125" y="1033930"/>
            <a:ext cx="8922870" cy="5449908"/>
          </a:xfrm>
          <a:prstGeom prst="rect">
            <a:avLst/>
          </a:prstGeom>
        </p:spPr>
      </p:pic>
    </p:spTree>
    <p:extLst>
      <p:ext uri="{BB962C8B-B14F-4D97-AF65-F5344CB8AC3E}">
        <p14:creationId xmlns:p14="http://schemas.microsoft.com/office/powerpoint/2010/main" val="32231518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499938-C7EC-1179-E806-D385B50D10C4}"/>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94D8DED8-F690-D074-652B-7BC12CCB0885}"/>
              </a:ext>
            </a:extLst>
          </p:cNvPr>
          <p:cNvPicPr>
            <a:picLocks noChangeAspect="1"/>
          </p:cNvPicPr>
          <p:nvPr/>
        </p:nvPicPr>
        <p:blipFill>
          <a:blip r:embed="rId2"/>
          <a:stretch>
            <a:fillRect/>
          </a:stretch>
        </p:blipFill>
        <p:spPr>
          <a:xfrm>
            <a:off x="495764" y="205558"/>
            <a:ext cx="1114361" cy="1293043"/>
          </a:xfrm>
          <a:prstGeom prst="rect">
            <a:avLst/>
          </a:prstGeom>
        </p:spPr>
      </p:pic>
      <p:pic>
        <p:nvPicPr>
          <p:cNvPr id="3" name="Picture 2">
            <a:extLst>
              <a:ext uri="{FF2B5EF4-FFF2-40B4-BE49-F238E27FC236}">
                <a16:creationId xmlns:a16="http://schemas.microsoft.com/office/drawing/2014/main" id="{7F204273-768F-3D34-4F72-4064B39050B8}"/>
              </a:ext>
            </a:extLst>
          </p:cNvPr>
          <p:cNvPicPr>
            <a:picLocks noChangeAspect="1"/>
          </p:cNvPicPr>
          <p:nvPr/>
        </p:nvPicPr>
        <p:blipFill>
          <a:blip r:embed="rId3"/>
          <a:stretch>
            <a:fillRect/>
          </a:stretch>
        </p:blipFill>
        <p:spPr>
          <a:xfrm>
            <a:off x="10551008" y="228690"/>
            <a:ext cx="1348892" cy="1199972"/>
          </a:xfrm>
          <a:prstGeom prst="rect">
            <a:avLst/>
          </a:prstGeom>
        </p:spPr>
      </p:pic>
      <p:sp>
        <p:nvSpPr>
          <p:cNvPr id="5" name="TextBox 4">
            <a:extLst>
              <a:ext uri="{FF2B5EF4-FFF2-40B4-BE49-F238E27FC236}">
                <a16:creationId xmlns:a16="http://schemas.microsoft.com/office/drawing/2014/main" id="{193355CA-41B0-6419-36D7-1B57DC657B38}"/>
              </a:ext>
            </a:extLst>
          </p:cNvPr>
          <p:cNvSpPr txBox="1"/>
          <p:nvPr/>
        </p:nvSpPr>
        <p:spPr>
          <a:xfrm>
            <a:off x="4485483" y="559691"/>
            <a:ext cx="2989206" cy="584775"/>
          </a:xfrm>
          <a:prstGeom prst="rect">
            <a:avLst/>
          </a:prstGeom>
          <a:noFill/>
        </p:spPr>
        <p:txBody>
          <a:bodyPr wrap="square">
            <a:spAutoFit/>
          </a:bodyPr>
          <a:lstStyle/>
          <a:p>
            <a:r>
              <a:rPr lang="en-IN" sz="3200" b="1" dirty="0">
                <a:latin typeface="Times New Roman" panose="02020603050405020304" pitchFamily="18" charset="0"/>
                <a:cs typeface="Times New Roman" panose="02020603050405020304" pitchFamily="18" charset="0"/>
              </a:rPr>
              <a:t>List of Modules</a:t>
            </a:r>
          </a:p>
        </p:txBody>
      </p:sp>
      <p:sp>
        <p:nvSpPr>
          <p:cNvPr id="7" name="TextBox 6">
            <a:extLst>
              <a:ext uri="{FF2B5EF4-FFF2-40B4-BE49-F238E27FC236}">
                <a16:creationId xmlns:a16="http://schemas.microsoft.com/office/drawing/2014/main" id="{4C9D135C-445B-1121-3680-DF0FAEB80794}"/>
              </a:ext>
            </a:extLst>
          </p:cNvPr>
          <p:cNvSpPr txBox="1"/>
          <p:nvPr/>
        </p:nvSpPr>
        <p:spPr>
          <a:xfrm>
            <a:off x="2677632" y="1773973"/>
            <a:ext cx="6836735" cy="2246769"/>
          </a:xfrm>
          <a:prstGeom prst="rect">
            <a:avLst/>
          </a:prstGeom>
          <a:noFill/>
        </p:spPr>
        <p:txBody>
          <a:bodyPr wrap="square">
            <a:spAutoFit/>
          </a:bodyPr>
          <a:lstStyle/>
          <a:p>
            <a:pPr marL="342900" indent="-342900" algn="just">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Module 1: Adaptive Allowance &amp; Expense Intelligence</a:t>
            </a:r>
          </a:p>
          <a:p>
            <a:pPr marL="342900" indent="-342900" algn="just">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Module 2: Smart Spending Leakage &amp; Expense Prioritization</a:t>
            </a:r>
          </a:p>
          <a:p>
            <a:pPr marL="342900" indent="-342900" algn="just">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Module 3: Budget Rescue &amp; Financial Risk Simulation</a:t>
            </a:r>
          </a:p>
          <a:p>
            <a:pPr marL="342900" indent="-342900" algn="just">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Module 4: Goal-Based Savings Optimization</a:t>
            </a:r>
          </a:p>
          <a:p>
            <a:pPr marL="342900" indent="-342900" algn="just">
              <a:buFont typeface="Arial" panose="020B0604020202020204" pitchFamily="34" charset="0"/>
              <a:buChar char="•"/>
            </a:pP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9206803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854946-491C-735B-17A6-9767640BE8DB}"/>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B4DE6C15-D8A5-A857-7A8C-1E8EB166D985}"/>
              </a:ext>
            </a:extLst>
          </p:cNvPr>
          <p:cNvPicPr>
            <a:picLocks noChangeAspect="1"/>
          </p:cNvPicPr>
          <p:nvPr/>
        </p:nvPicPr>
        <p:blipFill>
          <a:blip r:embed="rId2"/>
          <a:stretch>
            <a:fillRect/>
          </a:stretch>
        </p:blipFill>
        <p:spPr>
          <a:xfrm>
            <a:off x="495764" y="205558"/>
            <a:ext cx="1114361" cy="1293043"/>
          </a:xfrm>
          <a:prstGeom prst="rect">
            <a:avLst/>
          </a:prstGeom>
        </p:spPr>
      </p:pic>
      <p:pic>
        <p:nvPicPr>
          <p:cNvPr id="3" name="Picture 2">
            <a:extLst>
              <a:ext uri="{FF2B5EF4-FFF2-40B4-BE49-F238E27FC236}">
                <a16:creationId xmlns:a16="http://schemas.microsoft.com/office/drawing/2014/main" id="{4D2A087F-8FA7-E172-FA5A-7CEBC7EBD952}"/>
              </a:ext>
            </a:extLst>
          </p:cNvPr>
          <p:cNvPicPr>
            <a:picLocks noChangeAspect="1"/>
          </p:cNvPicPr>
          <p:nvPr/>
        </p:nvPicPr>
        <p:blipFill>
          <a:blip r:embed="rId3"/>
          <a:stretch>
            <a:fillRect/>
          </a:stretch>
        </p:blipFill>
        <p:spPr>
          <a:xfrm>
            <a:off x="10551008" y="228690"/>
            <a:ext cx="1348892" cy="1199972"/>
          </a:xfrm>
          <a:prstGeom prst="rect">
            <a:avLst/>
          </a:prstGeom>
        </p:spPr>
      </p:pic>
      <p:sp>
        <p:nvSpPr>
          <p:cNvPr id="5" name="TextBox 4">
            <a:extLst>
              <a:ext uri="{FF2B5EF4-FFF2-40B4-BE49-F238E27FC236}">
                <a16:creationId xmlns:a16="http://schemas.microsoft.com/office/drawing/2014/main" id="{B6E44BDA-C11E-9F33-7DCD-85788AD01738}"/>
              </a:ext>
            </a:extLst>
          </p:cNvPr>
          <p:cNvSpPr txBox="1"/>
          <p:nvPr/>
        </p:nvSpPr>
        <p:spPr>
          <a:xfrm>
            <a:off x="1719824" y="351018"/>
            <a:ext cx="8721485" cy="1569660"/>
          </a:xfrm>
          <a:prstGeom prst="rect">
            <a:avLst/>
          </a:prstGeom>
          <a:noFill/>
        </p:spPr>
        <p:txBody>
          <a:bodyPr wrap="square">
            <a:spAutoFit/>
          </a:bodyPr>
          <a:lstStyle/>
          <a:p>
            <a:pPr algn="ctr"/>
            <a:r>
              <a:rPr lang="en-IN" sz="3200" b="1" dirty="0">
                <a:latin typeface="Times New Roman" panose="02020603050405020304" pitchFamily="18" charset="0"/>
                <a:cs typeface="Times New Roman" panose="02020603050405020304" pitchFamily="18" charset="0"/>
              </a:rPr>
              <a:t>Module 1: Adaptive Allowance &amp; Expense Intelligence</a:t>
            </a:r>
          </a:p>
          <a:p>
            <a:endParaRPr lang="en-IN" sz="3200" b="1"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FEC1DB64-36A1-A192-57A5-034B040D9F13}"/>
              </a:ext>
            </a:extLst>
          </p:cNvPr>
          <p:cNvSpPr txBox="1"/>
          <p:nvPr/>
        </p:nvSpPr>
        <p:spPr>
          <a:xfrm>
            <a:off x="1831256" y="2082043"/>
            <a:ext cx="8346674" cy="4191981"/>
          </a:xfrm>
          <a:prstGeom prst="rect">
            <a:avLst/>
          </a:prstGeom>
          <a:noFill/>
        </p:spPr>
        <p:txBody>
          <a:bodyPr wrap="square">
            <a:spAutoFit/>
          </a:bodyPr>
          <a:lstStyle/>
          <a:p>
            <a:pPr marL="285750" lvl="0" indent="-285750" algn="just">
              <a:lnSpc>
                <a:spcPct val="150000"/>
              </a:lnSpc>
              <a:buFont typeface="Arial" panose="020B0604020202020204" pitchFamily="34" charset="0"/>
              <a:buChar char="•"/>
            </a:pPr>
            <a:r>
              <a:rPr lang="en-IN" sz="2000" dirty="0" err="1">
                <a:latin typeface="Times New Roman" panose="02020603050405020304" pitchFamily="18" charset="0"/>
                <a:cs typeface="Times New Roman" panose="02020603050405020304" pitchFamily="18" charset="0"/>
              </a:rPr>
              <a:t>Analyzes</a:t>
            </a:r>
            <a:r>
              <a:rPr lang="en-IN" sz="2000" dirty="0">
                <a:latin typeface="Times New Roman" panose="02020603050405020304" pitchFamily="18" charset="0"/>
                <a:cs typeface="Times New Roman" panose="02020603050405020304" pitchFamily="18" charset="0"/>
              </a:rPr>
              <a:t> students' daily expenses and monthly allowance.</a:t>
            </a:r>
          </a:p>
          <a:p>
            <a:pPr marL="285750" lvl="0" indent="-285750" algn="just">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Calculates </a:t>
            </a:r>
            <a:r>
              <a:rPr lang="en-IN" sz="2000" b="1" dirty="0">
                <a:latin typeface="Times New Roman" panose="02020603050405020304" pitchFamily="18" charset="0"/>
                <a:cs typeface="Times New Roman" panose="02020603050405020304" pitchFamily="18" charset="0"/>
              </a:rPr>
              <a:t>7-day and 30-day average spending</a:t>
            </a:r>
            <a:r>
              <a:rPr lang="en-IN" sz="2000" dirty="0">
                <a:latin typeface="Times New Roman" panose="02020603050405020304" pitchFamily="18" charset="0"/>
                <a:cs typeface="Times New Roman" panose="02020603050405020304" pitchFamily="18" charset="0"/>
              </a:rPr>
              <a:t> to identify spending patterns.</a:t>
            </a:r>
          </a:p>
          <a:p>
            <a:pPr marL="285750" lvl="0" indent="-285750" algn="just">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Determines a </a:t>
            </a:r>
            <a:r>
              <a:rPr lang="en-IN" sz="2000" b="1" dirty="0">
                <a:latin typeface="Times New Roman" panose="02020603050405020304" pitchFamily="18" charset="0"/>
                <a:cs typeface="Times New Roman" panose="02020603050405020304" pitchFamily="18" charset="0"/>
              </a:rPr>
              <a:t>dynamic safe-spending limit</a:t>
            </a:r>
            <a:r>
              <a:rPr lang="en-IN" sz="2000" dirty="0">
                <a:latin typeface="Times New Roman" panose="02020603050405020304" pitchFamily="18" charset="0"/>
                <a:cs typeface="Times New Roman" panose="02020603050405020304" pitchFamily="18" charset="0"/>
              </a:rPr>
              <a:t> based on the remaining allowance and days left in the month.</a:t>
            </a:r>
          </a:p>
          <a:p>
            <a:pPr marL="285750" lvl="0" indent="-285750" algn="just">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Allocates the available budget across different expense categories.</a:t>
            </a:r>
          </a:p>
          <a:p>
            <a:pPr marL="285750" lvl="0" indent="-285750" algn="just">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Automatically adjusts spending recommendations when unexpected expenses occur.</a:t>
            </a:r>
          </a:p>
          <a:p>
            <a:pPr marL="342900" indent="-342900">
              <a:lnSpc>
                <a:spcPct val="150000"/>
              </a:lnSpc>
              <a:buFont typeface="Arial" panose="020B0604020202020204" pitchFamily="34" charset="0"/>
              <a:buChar char="•"/>
            </a:pP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693070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CF38B1-30BD-0706-DE0B-A7754C948DC3}"/>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AA4FB976-1E6E-4C8C-FEA6-37EA23CE5C51}"/>
              </a:ext>
            </a:extLst>
          </p:cNvPr>
          <p:cNvPicPr>
            <a:picLocks noChangeAspect="1"/>
          </p:cNvPicPr>
          <p:nvPr/>
        </p:nvPicPr>
        <p:blipFill>
          <a:blip r:embed="rId2"/>
          <a:stretch>
            <a:fillRect/>
          </a:stretch>
        </p:blipFill>
        <p:spPr>
          <a:xfrm>
            <a:off x="495764" y="205558"/>
            <a:ext cx="1114361" cy="1293043"/>
          </a:xfrm>
          <a:prstGeom prst="rect">
            <a:avLst/>
          </a:prstGeom>
        </p:spPr>
      </p:pic>
      <p:pic>
        <p:nvPicPr>
          <p:cNvPr id="3" name="Picture 2">
            <a:extLst>
              <a:ext uri="{FF2B5EF4-FFF2-40B4-BE49-F238E27FC236}">
                <a16:creationId xmlns:a16="http://schemas.microsoft.com/office/drawing/2014/main" id="{3464FEFF-3937-9B19-BA13-FA5F50EA9AA6}"/>
              </a:ext>
            </a:extLst>
          </p:cNvPr>
          <p:cNvPicPr>
            <a:picLocks noChangeAspect="1"/>
          </p:cNvPicPr>
          <p:nvPr/>
        </p:nvPicPr>
        <p:blipFill>
          <a:blip r:embed="rId3"/>
          <a:stretch>
            <a:fillRect/>
          </a:stretch>
        </p:blipFill>
        <p:spPr>
          <a:xfrm>
            <a:off x="10551008" y="228690"/>
            <a:ext cx="1348892" cy="1199972"/>
          </a:xfrm>
          <a:prstGeom prst="rect">
            <a:avLst/>
          </a:prstGeom>
        </p:spPr>
      </p:pic>
      <p:pic>
        <p:nvPicPr>
          <p:cNvPr id="5" name="Picture 4" descr="The image illustrates a flowchart for budget planning, starting with entering monthly allowance and daily expenses, analyzing spending history, calculating safe spending limits, allocating funds to categories, and adjusting the budget for unexpected expenses, ending with displaying updated budget recommendations.&#10;&#10;AI-generated content may be incorrect.">
            <a:extLst>
              <a:ext uri="{FF2B5EF4-FFF2-40B4-BE49-F238E27FC236}">
                <a16:creationId xmlns:a16="http://schemas.microsoft.com/office/drawing/2014/main" id="{D0DDC134-1235-F28A-563C-49A9406DB892}"/>
              </a:ext>
            </a:extLst>
          </p:cNvPr>
          <p:cNvPicPr>
            <a:picLocks noChangeAspect="1"/>
          </p:cNvPicPr>
          <p:nvPr/>
        </p:nvPicPr>
        <p:blipFill>
          <a:blip r:embed="rId4"/>
          <a:stretch>
            <a:fillRect/>
          </a:stretch>
        </p:blipFill>
        <p:spPr>
          <a:xfrm>
            <a:off x="3400405" y="424330"/>
            <a:ext cx="5391189" cy="6018306"/>
          </a:xfrm>
          <a:prstGeom prst="rect">
            <a:avLst/>
          </a:prstGeom>
        </p:spPr>
      </p:pic>
    </p:spTree>
    <p:extLst>
      <p:ext uri="{BB962C8B-B14F-4D97-AF65-F5344CB8AC3E}">
        <p14:creationId xmlns:p14="http://schemas.microsoft.com/office/powerpoint/2010/main" val="41692038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FF32BD-A476-FB7B-3A76-0DE854178518}"/>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313FF968-2421-76B8-E6B8-79B1B6DAF80D}"/>
              </a:ext>
            </a:extLst>
          </p:cNvPr>
          <p:cNvPicPr>
            <a:picLocks noChangeAspect="1"/>
          </p:cNvPicPr>
          <p:nvPr/>
        </p:nvPicPr>
        <p:blipFill>
          <a:blip r:embed="rId2"/>
          <a:stretch>
            <a:fillRect/>
          </a:stretch>
        </p:blipFill>
        <p:spPr>
          <a:xfrm>
            <a:off x="495764" y="205558"/>
            <a:ext cx="1114361" cy="1293043"/>
          </a:xfrm>
          <a:prstGeom prst="rect">
            <a:avLst/>
          </a:prstGeom>
        </p:spPr>
      </p:pic>
      <p:pic>
        <p:nvPicPr>
          <p:cNvPr id="3" name="Picture 2">
            <a:extLst>
              <a:ext uri="{FF2B5EF4-FFF2-40B4-BE49-F238E27FC236}">
                <a16:creationId xmlns:a16="http://schemas.microsoft.com/office/drawing/2014/main" id="{5DBC95C5-1104-AC3D-9B34-ED232082CC36}"/>
              </a:ext>
            </a:extLst>
          </p:cNvPr>
          <p:cNvPicPr>
            <a:picLocks noChangeAspect="1"/>
          </p:cNvPicPr>
          <p:nvPr/>
        </p:nvPicPr>
        <p:blipFill>
          <a:blip r:embed="rId3"/>
          <a:stretch>
            <a:fillRect/>
          </a:stretch>
        </p:blipFill>
        <p:spPr>
          <a:xfrm>
            <a:off x="10551008" y="228690"/>
            <a:ext cx="1348892" cy="1199972"/>
          </a:xfrm>
          <a:prstGeom prst="rect">
            <a:avLst/>
          </a:prstGeom>
        </p:spPr>
      </p:pic>
      <p:sp>
        <p:nvSpPr>
          <p:cNvPr id="5" name="TextBox 4">
            <a:extLst>
              <a:ext uri="{FF2B5EF4-FFF2-40B4-BE49-F238E27FC236}">
                <a16:creationId xmlns:a16="http://schemas.microsoft.com/office/drawing/2014/main" id="{AAE1E171-3AD6-A811-68A8-C9646219BF87}"/>
              </a:ext>
            </a:extLst>
          </p:cNvPr>
          <p:cNvSpPr txBox="1"/>
          <p:nvPr/>
        </p:nvSpPr>
        <p:spPr>
          <a:xfrm>
            <a:off x="2158105" y="205558"/>
            <a:ext cx="7844922" cy="1569660"/>
          </a:xfrm>
          <a:prstGeom prst="rect">
            <a:avLst/>
          </a:prstGeom>
          <a:noFill/>
        </p:spPr>
        <p:txBody>
          <a:bodyPr wrap="square">
            <a:spAutoFit/>
          </a:bodyPr>
          <a:lstStyle/>
          <a:p>
            <a:pPr algn="ctr"/>
            <a:r>
              <a:rPr lang="en-IN" sz="3200" b="1" dirty="0">
                <a:latin typeface="Times New Roman" panose="02020603050405020304" pitchFamily="18" charset="0"/>
                <a:cs typeface="Times New Roman" panose="02020603050405020304" pitchFamily="18" charset="0"/>
              </a:rPr>
              <a:t>Module 2: Smart Spending Leakage &amp; Expense Prioritization</a:t>
            </a:r>
          </a:p>
          <a:p>
            <a:endParaRPr lang="en-IN" sz="3200" b="1" dirty="0">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C18FE98A-F891-916F-C99B-14D3495173D7}"/>
              </a:ext>
            </a:extLst>
          </p:cNvPr>
          <p:cNvSpPr txBox="1"/>
          <p:nvPr/>
        </p:nvSpPr>
        <p:spPr>
          <a:xfrm>
            <a:off x="1371600" y="1678261"/>
            <a:ext cx="9317318" cy="5115311"/>
          </a:xfrm>
          <a:prstGeom prst="rect">
            <a:avLst/>
          </a:prstGeom>
          <a:noFill/>
        </p:spPr>
        <p:txBody>
          <a:bodyPr wrap="square">
            <a:spAutoFit/>
          </a:bodyPr>
          <a:lstStyle/>
          <a:p>
            <a:pPr marL="342900" lvl="0" indent="-342900" algn="just">
              <a:lnSpc>
                <a:spcPct val="150000"/>
              </a:lnSpc>
              <a:buFont typeface="Arial" panose="020B0604020202020204" pitchFamily="34" charset="0"/>
              <a:buChar char="•"/>
            </a:pPr>
            <a:r>
              <a:rPr lang="en-IN" sz="2000" b="1" dirty="0">
                <a:latin typeface="Times New Roman" panose="02020603050405020304" pitchFamily="18" charset="0"/>
                <a:cs typeface="Times New Roman" panose="02020603050405020304" pitchFamily="18" charset="0"/>
              </a:rPr>
              <a:t>Category-Wise Spending Analysis:</a:t>
            </a:r>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Analyzes</a:t>
            </a:r>
            <a:r>
              <a:rPr lang="en-IN" sz="2000" dirty="0">
                <a:latin typeface="Times New Roman" panose="02020603050405020304" pitchFamily="18" charset="0"/>
                <a:cs typeface="Times New Roman" panose="02020603050405020304" pitchFamily="18" charset="0"/>
              </a:rPr>
              <a:t> expenses across categories such as food, transport, shopping, and entertainment.</a:t>
            </a:r>
          </a:p>
          <a:p>
            <a:pPr marL="342900" lvl="0" indent="-342900" algn="just">
              <a:lnSpc>
                <a:spcPct val="150000"/>
              </a:lnSpc>
              <a:buFont typeface="Arial" panose="020B0604020202020204" pitchFamily="34" charset="0"/>
              <a:buChar char="•"/>
            </a:pPr>
            <a:r>
              <a:rPr lang="en-IN" sz="2000" b="1" dirty="0">
                <a:latin typeface="Times New Roman" panose="02020603050405020304" pitchFamily="18" charset="0"/>
                <a:cs typeface="Times New Roman" panose="02020603050405020304" pitchFamily="18" charset="0"/>
              </a:rPr>
              <a:t>Weekly Expense Comparison:</a:t>
            </a:r>
            <a:r>
              <a:rPr lang="en-IN" sz="2000" dirty="0">
                <a:latin typeface="Times New Roman" panose="02020603050405020304" pitchFamily="18" charset="0"/>
                <a:cs typeface="Times New Roman" panose="02020603050405020304" pitchFamily="18" charset="0"/>
              </a:rPr>
              <a:t> Compares current and previous weeks' spending to identify changes in spending habits.</a:t>
            </a:r>
          </a:p>
          <a:p>
            <a:pPr marL="342900" lvl="0" indent="-342900" algn="just">
              <a:lnSpc>
                <a:spcPct val="150000"/>
              </a:lnSpc>
              <a:buFont typeface="Arial" panose="020B0604020202020204" pitchFamily="34" charset="0"/>
              <a:buChar char="•"/>
            </a:pPr>
            <a:r>
              <a:rPr lang="en-IN" sz="2000" b="1" dirty="0">
                <a:latin typeface="Times New Roman" panose="02020603050405020304" pitchFamily="18" charset="0"/>
                <a:cs typeface="Times New Roman" panose="02020603050405020304" pitchFamily="18" charset="0"/>
              </a:rPr>
              <a:t>Needs vs. Wants Classification:</a:t>
            </a:r>
            <a:r>
              <a:rPr lang="en-IN" sz="2000" dirty="0">
                <a:latin typeface="Times New Roman" panose="02020603050405020304" pitchFamily="18" charset="0"/>
                <a:cs typeface="Times New Roman" panose="02020603050405020304" pitchFamily="18" charset="0"/>
              </a:rPr>
              <a:t> Categorizes expenses into essential needs and discretionary wants.</a:t>
            </a:r>
          </a:p>
          <a:p>
            <a:pPr marL="342900" lvl="0" indent="-342900" algn="just">
              <a:lnSpc>
                <a:spcPct val="150000"/>
              </a:lnSpc>
              <a:buFont typeface="Arial" panose="020B0604020202020204" pitchFamily="34" charset="0"/>
              <a:buChar char="•"/>
            </a:pPr>
            <a:r>
              <a:rPr lang="en-IN" sz="2000" b="1" dirty="0">
                <a:latin typeface="Times New Roman" panose="02020603050405020304" pitchFamily="18" charset="0"/>
                <a:cs typeface="Times New Roman" panose="02020603050405020304" pitchFamily="18" charset="0"/>
              </a:rPr>
              <a:t>Spending Leakage Detection:</a:t>
            </a:r>
            <a:r>
              <a:rPr lang="en-IN" sz="2000" dirty="0">
                <a:latin typeface="Times New Roman" panose="02020603050405020304" pitchFamily="18" charset="0"/>
                <a:cs typeface="Times New Roman" panose="02020603050405020304" pitchFamily="18" charset="0"/>
              </a:rPr>
              <a:t> Identifies frequent, unnecessary, or excessive spending that may reduce savings.</a:t>
            </a:r>
          </a:p>
          <a:p>
            <a:pPr marL="342900" lvl="0" indent="-342900" algn="just">
              <a:lnSpc>
                <a:spcPct val="150000"/>
              </a:lnSpc>
              <a:buFont typeface="Arial" panose="020B0604020202020204" pitchFamily="34" charset="0"/>
              <a:buChar char="•"/>
            </a:pPr>
            <a:r>
              <a:rPr lang="en-IN" sz="2000" b="1" dirty="0">
                <a:latin typeface="Times New Roman" panose="02020603050405020304" pitchFamily="18" charset="0"/>
                <a:cs typeface="Times New Roman" panose="02020603050405020304" pitchFamily="18" charset="0"/>
              </a:rPr>
              <a:t>Personalized Savings Insights:</a:t>
            </a:r>
            <a:r>
              <a:rPr lang="en-IN" sz="2000" dirty="0">
                <a:latin typeface="Times New Roman" panose="02020603050405020304" pitchFamily="18" charset="0"/>
                <a:cs typeface="Times New Roman" panose="02020603050405020304" pitchFamily="18" charset="0"/>
              </a:rPr>
              <a:t> Suggests expense priorities and opportunities to reduce avoidable spending.</a:t>
            </a:r>
          </a:p>
          <a:p>
            <a:pPr marL="285750" indent="-285750">
              <a:lnSpc>
                <a:spcPct val="150000"/>
              </a:lnSpc>
              <a:buFont typeface="Arial" panose="020B0604020202020204" pitchFamily="34" charset="0"/>
              <a:buChar char="•"/>
            </a:pP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3336380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B55B05-31C1-76A0-28C8-3261D0FE565B}"/>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69659C2E-F0D6-63E0-8C80-A90B089391BE}"/>
              </a:ext>
            </a:extLst>
          </p:cNvPr>
          <p:cNvPicPr>
            <a:picLocks noChangeAspect="1"/>
          </p:cNvPicPr>
          <p:nvPr/>
        </p:nvPicPr>
        <p:blipFill>
          <a:blip r:embed="rId2"/>
          <a:stretch>
            <a:fillRect/>
          </a:stretch>
        </p:blipFill>
        <p:spPr>
          <a:xfrm>
            <a:off x="495764" y="205558"/>
            <a:ext cx="1114361" cy="1293043"/>
          </a:xfrm>
          <a:prstGeom prst="rect">
            <a:avLst/>
          </a:prstGeom>
        </p:spPr>
      </p:pic>
      <p:pic>
        <p:nvPicPr>
          <p:cNvPr id="3" name="Picture 2">
            <a:extLst>
              <a:ext uri="{FF2B5EF4-FFF2-40B4-BE49-F238E27FC236}">
                <a16:creationId xmlns:a16="http://schemas.microsoft.com/office/drawing/2014/main" id="{BBBCCC90-6588-3946-2ED3-FFAED9EEF7C7}"/>
              </a:ext>
            </a:extLst>
          </p:cNvPr>
          <p:cNvPicPr>
            <a:picLocks noChangeAspect="1"/>
          </p:cNvPicPr>
          <p:nvPr/>
        </p:nvPicPr>
        <p:blipFill>
          <a:blip r:embed="rId3"/>
          <a:stretch>
            <a:fillRect/>
          </a:stretch>
        </p:blipFill>
        <p:spPr>
          <a:xfrm>
            <a:off x="10551008" y="228690"/>
            <a:ext cx="1348892" cy="1199972"/>
          </a:xfrm>
          <a:prstGeom prst="rect">
            <a:avLst/>
          </a:prstGeom>
        </p:spPr>
      </p:pic>
      <p:pic>
        <p:nvPicPr>
          <p:cNvPr id="5" name="Picture 4" descr="The diagram illustrates a step-by-step process for analyzing and categorizing personal expenses to identify spending patterns, distinguish between needs and wants, detect leaks, and generate savings recommendations.&#10;&#10;AI-generated content may be incorrect.">
            <a:extLst>
              <a:ext uri="{FF2B5EF4-FFF2-40B4-BE49-F238E27FC236}">
                <a16:creationId xmlns:a16="http://schemas.microsoft.com/office/drawing/2014/main" id="{A83BAEE8-6E0F-2314-A943-83C5681EA01C}"/>
              </a:ext>
            </a:extLst>
          </p:cNvPr>
          <p:cNvPicPr>
            <a:picLocks noChangeAspect="1"/>
          </p:cNvPicPr>
          <p:nvPr/>
        </p:nvPicPr>
        <p:blipFill>
          <a:blip r:embed="rId4"/>
          <a:stretch>
            <a:fillRect/>
          </a:stretch>
        </p:blipFill>
        <p:spPr>
          <a:xfrm>
            <a:off x="3667107" y="280893"/>
            <a:ext cx="4857786" cy="6341035"/>
          </a:xfrm>
          <a:prstGeom prst="rect">
            <a:avLst/>
          </a:prstGeom>
        </p:spPr>
      </p:pic>
    </p:spTree>
    <p:extLst>
      <p:ext uri="{BB962C8B-B14F-4D97-AF65-F5344CB8AC3E}">
        <p14:creationId xmlns:p14="http://schemas.microsoft.com/office/powerpoint/2010/main" val="269312243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62EE4A-5828-3900-F3A9-0C52B7B0B515}"/>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2B2A4612-58B8-31CD-E342-B0C28CEBC974}"/>
              </a:ext>
            </a:extLst>
          </p:cNvPr>
          <p:cNvPicPr>
            <a:picLocks noChangeAspect="1"/>
          </p:cNvPicPr>
          <p:nvPr/>
        </p:nvPicPr>
        <p:blipFill>
          <a:blip r:embed="rId2"/>
          <a:stretch>
            <a:fillRect/>
          </a:stretch>
        </p:blipFill>
        <p:spPr>
          <a:xfrm>
            <a:off x="495764" y="205558"/>
            <a:ext cx="1114361" cy="1293043"/>
          </a:xfrm>
          <a:prstGeom prst="rect">
            <a:avLst/>
          </a:prstGeom>
        </p:spPr>
      </p:pic>
      <p:pic>
        <p:nvPicPr>
          <p:cNvPr id="3" name="Picture 2">
            <a:extLst>
              <a:ext uri="{FF2B5EF4-FFF2-40B4-BE49-F238E27FC236}">
                <a16:creationId xmlns:a16="http://schemas.microsoft.com/office/drawing/2014/main" id="{B4BE2E2F-B523-87DB-596D-03F97B61506C}"/>
              </a:ext>
            </a:extLst>
          </p:cNvPr>
          <p:cNvPicPr>
            <a:picLocks noChangeAspect="1"/>
          </p:cNvPicPr>
          <p:nvPr/>
        </p:nvPicPr>
        <p:blipFill>
          <a:blip r:embed="rId3"/>
          <a:stretch>
            <a:fillRect/>
          </a:stretch>
        </p:blipFill>
        <p:spPr>
          <a:xfrm>
            <a:off x="10551008" y="228690"/>
            <a:ext cx="1348892" cy="1199972"/>
          </a:xfrm>
          <a:prstGeom prst="rect">
            <a:avLst/>
          </a:prstGeom>
        </p:spPr>
      </p:pic>
      <p:sp>
        <p:nvSpPr>
          <p:cNvPr id="5" name="TextBox 4">
            <a:extLst>
              <a:ext uri="{FF2B5EF4-FFF2-40B4-BE49-F238E27FC236}">
                <a16:creationId xmlns:a16="http://schemas.microsoft.com/office/drawing/2014/main" id="{0488508A-D2A9-FB5B-568A-38F7114D6C8F}"/>
              </a:ext>
            </a:extLst>
          </p:cNvPr>
          <p:cNvSpPr txBox="1"/>
          <p:nvPr/>
        </p:nvSpPr>
        <p:spPr>
          <a:xfrm>
            <a:off x="2280141" y="289596"/>
            <a:ext cx="7844922" cy="1569660"/>
          </a:xfrm>
          <a:prstGeom prst="rect">
            <a:avLst/>
          </a:prstGeom>
          <a:noFill/>
        </p:spPr>
        <p:txBody>
          <a:bodyPr wrap="square">
            <a:spAutoFit/>
          </a:bodyPr>
          <a:lstStyle/>
          <a:p>
            <a:pPr algn="ctr"/>
            <a:r>
              <a:rPr lang="en-IN" sz="3200" b="1" dirty="0">
                <a:latin typeface="Times New Roman" panose="02020603050405020304" pitchFamily="18" charset="0"/>
                <a:cs typeface="Times New Roman" panose="02020603050405020304" pitchFamily="18" charset="0"/>
              </a:rPr>
              <a:t>Module 3: Budget Rescue &amp; Financial Risk Simulation</a:t>
            </a:r>
          </a:p>
          <a:p>
            <a:endParaRPr lang="en-IN" sz="3200" b="1"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3EC15ABB-3B6E-BAF7-9382-E1270B2D5983}"/>
              </a:ext>
            </a:extLst>
          </p:cNvPr>
          <p:cNvSpPr txBox="1"/>
          <p:nvPr/>
        </p:nvSpPr>
        <p:spPr>
          <a:xfrm>
            <a:off x="1610125" y="1644103"/>
            <a:ext cx="9087756" cy="5115311"/>
          </a:xfrm>
          <a:prstGeom prst="rect">
            <a:avLst/>
          </a:prstGeom>
          <a:noFill/>
        </p:spPr>
        <p:txBody>
          <a:bodyPr wrap="square">
            <a:spAutoFit/>
          </a:bodyPr>
          <a:lstStyle/>
          <a:p>
            <a:pPr marL="285750" lvl="0" indent="-285750" algn="just">
              <a:lnSpc>
                <a:spcPct val="150000"/>
              </a:lnSpc>
              <a:buFont typeface="Arial" panose="020B0604020202020204" pitchFamily="34" charset="0"/>
              <a:buChar char="•"/>
            </a:pPr>
            <a:r>
              <a:rPr lang="en-IN" sz="2000" b="1" dirty="0">
                <a:latin typeface="Times New Roman" panose="02020603050405020304" pitchFamily="18" charset="0"/>
                <a:cs typeface="Times New Roman" panose="02020603050405020304" pitchFamily="18" charset="0"/>
              </a:rPr>
              <a:t>Purchase Affordability Analysis:</a:t>
            </a:r>
            <a:r>
              <a:rPr lang="en-IN" sz="2000" dirty="0">
                <a:latin typeface="Times New Roman" panose="02020603050405020304" pitchFamily="18" charset="0"/>
                <a:cs typeface="Times New Roman" panose="02020603050405020304" pitchFamily="18" charset="0"/>
              </a:rPr>
              <a:t> Evaluates whether a proposed purchase fits within the student's available budget.</a:t>
            </a:r>
          </a:p>
          <a:p>
            <a:pPr marL="285750" lvl="0" indent="-285750" algn="just">
              <a:lnSpc>
                <a:spcPct val="150000"/>
              </a:lnSpc>
              <a:buFont typeface="Arial" panose="020B0604020202020204" pitchFamily="34" charset="0"/>
              <a:buChar char="•"/>
            </a:pPr>
            <a:r>
              <a:rPr lang="en-IN" sz="2000" b="1" dirty="0">
                <a:latin typeface="Times New Roman" panose="02020603050405020304" pitchFamily="18" charset="0"/>
                <a:cs typeface="Times New Roman" panose="02020603050405020304" pitchFamily="18" charset="0"/>
              </a:rPr>
              <a:t>Financial Risk Simulation:</a:t>
            </a:r>
            <a:r>
              <a:rPr lang="en-IN" sz="2000" dirty="0">
                <a:latin typeface="Times New Roman" panose="02020603050405020304" pitchFamily="18" charset="0"/>
                <a:cs typeface="Times New Roman" panose="02020603050405020304" pitchFamily="18" charset="0"/>
              </a:rPr>
              <a:t> Predicts the impact of planned purchases and unexpected expenses on the remaining allowance.</a:t>
            </a:r>
          </a:p>
          <a:p>
            <a:pPr marL="285750" lvl="0" indent="-285750" algn="just">
              <a:lnSpc>
                <a:spcPct val="150000"/>
              </a:lnSpc>
              <a:buFont typeface="Arial" panose="020B0604020202020204" pitchFamily="34" charset="0"/>
              <a:buChar char="•"/>
            </a:pPr>
            <a:r>
              <a:rPr lang="en-IN" sz="2000" b="1" dirty="0">
                <a:latin typeface="Times New Roman" panose="02020603050405020304" pitchFamily="18" charset="0"/>
                <a:cs typeface="Times New Roman" panose="02020603050405020304" pitchFamily="18" charset="0"/>
              </a:rPr>
              <a:t>Emergency Budget Adjustment:</a:t>
            </a:r>
            <a:r>
              <a:rPr lang="en-IN" sz="2000" dirty="0">
                <a:latin typeface="Times New Roman" panose="02020603050405020304" pitchFamily="18" charset="0"/>
                <a:cs typeface="Times New Roman" panose="02020603050405020304" pitchFamily="18" charset="0"/>
              </a:rPr>
              <a:t> Reallocates available funds and reduces non-essential spending during financial emergencies.</a:t>
            </a:r>
          </a:p>
          <a:p>
            <a:pPr marL="285750" lvl="0" indent="-285750" algn="just">
              <a:lnSpc>
                <a:spcPct val="150000"/>
              </a:lnSpc>
              <a:buFont typeface="Arial" panose="020B0604020202020204" pitchFamily="34" charset="0"/>
              <a:buChar char="•"/>
            </a:pPr>
            <a:r>
              <a:rPr lang="en-IN" sz="2000" b="1" dirty="0">
                <a:latin typeface="Times New Roman" panose="02020603050405020304" pitchFamily="18" charset="0"/>
                <a:cs typeface="Times New Roman" panose="02020603050405020304" pitchFamily="18" charset="0"/>
              </a:rPr>
              <a:t>Budget Recovery Planning:</a:t>
            </a:r>
            <a:r>
              <a:rPr lang="en-IN" sz="2000" dirty="0">
                <a:latin typeface="Times New Roman" panose="02020603050405020304" pitchFamily="18" charset="0"/>
                <a:cs typeface="Times New Roman" panose="02020603050405020304" pitchFamily="18" charset="0"/>
              </a:rPr>
              <a:t> Estimates the time required to recover from overspending through adjusted daily spending limits.</a:t>
            </a:r>
          </a:p>
          <a:p>
            <a:pPr marL="285750" lvl="0" indent="-285750" algn="just">
              <a:lnSpc>
                <a:spcPct val="150000"/>
              </a:lnSpc>
              <a:buFont typeface="Arial" panose="020B0604020202020204" pitchFamily="34" charset="0"/>
              <a:buChar char="•"/>
            </a:pPr>
            <a:r>
              <a:rPr lang="en-IN" sz="2000" b="1" dirty="0">
                <a:latin typeface="Times New Roman" panose="02020603050405020304" pitchFamily="18" charset="0"/>
                <a:cs typeface="Times New Roman" panose="02020603050405020304" pitchFamily="18" charset="0"/>
              </a:rPr>
              <a:t>Smart Financial Recommendations:</a:t>
            </a:r>
            <a:r>
              <a:rPr lang="en-IN" sz="2000" dirty="0">
                <a:latin typeface="Times New Roman" panose="02020603050405020304" pitchFamily="18" charset="0"/>
                <a:cs typeface="Times New Roman" panose="02020603050405020304" pitchFamily="18" charset="0"/>
              </a:rPr>
              <a:t> Provides suggestions to minimize financial risks and maintain budget stability.</a:t>
            </a:r>
          </a:p>
          <a:p>
            <a:pPr marL="342900" indent="-342900">
              <a:lnSpc>
                <a:spcPct val="150000"/>
              </a:lnSpc>
              <a:buFont typeface="Arial" panose="020B0604020202020204" pitchFamily="34" charset="0"/>
              <a:buChar char="•"/>
            </a:pP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0388852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2F9DA4-97EE-D44F-3BC4-E32BDFC70A44}"/>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0751A993-2D51-39ED-FE25-2F0FDE453430}"/>
              </a:ext>
            </a:extLst>
          </p:cNvPr>
          <p:cNvPicPr>
            <a:picLocks noChangeAspect="1"/>
          </p:cNvPicPr>
          <p:nvPr/>
        </p:nvPicPr>
        <p:blipFill>
          <a:blip r:embed="rId2"/>
          <a:stretch>
            <a:fillRect/>
          </a:stretch>
        </p:blipFill>
        <p:spPr>
          <a:xfrm>
            <a:off x="495764" y="205558"/>
            <a:ext cx="1114361" cy="1293043"/>
          </a:xfrm>
          <a:prstGeom prst="rect">
            <a:avLst/>
          </a:prstGeom>
        </p:spPr>
      </p:pic>
      <p:pic>
        <p:nvPicPr>
          <p:cNvPr id="3" name="Picture 2">
            <a:extLst>
              <a:ext uri="{FF2B5EF4-FFF2-40B4-BE49-F238E27FC236}">
                <a16:creationId xmlns:a16="http://schemas.microsoft.com/office/drawing/2014/main" id="{95C8A45C-D75A-3805-E5AE-46EBFC62BCF1}"/>
              </a:ext>
            </a:extLst>
          </p:cNvPr>
          <p:cNvPicPr>
            <a:picLocks noChangeAspect="1"/>
          </p:cNvPicPr>
          <p:nvPr/>
        </p:nvPicPr>
        <p:blipFill>
          <a:blip r:embed="rId3"/>
          <a:stretch>
            <a:fillRect/>
          </a:stretch>
        </p:blipFill>
        <p:spPr>
          <a:xfrm>
            <a:off x="10551008" y="228690"/>
            <a:ext cx="1348892" cy="1199972"/>
          </a:xfrm>
          <a:prstGeom prst="rect">
            <a:avLst/>
          </a:prstGeom>
        </p:spPr>
      </p:pic>
      <p:pic>
        <p:nvPicPr>
          <p:cNvPr id="5" name="Picture 4" descr="The diagram illustrates a flowchart for managing personal finances, starting with retrieving current budget and expenses, then simulating the impact of new purchases or unexpected expenses, and finally deciding whether to maintain the budget, activate a budget rescue plan, or generate financial risk recommendations.&#10;&#10;AI-generated content may be incorrect.">
            <a:extLst>
              <a:ext uri="{FF2B5EF4-FFF2-40B4-BE49-F238E27FC236}">
                <a16:creationId xmlns:a16="http://schemas.microsoft.com/office/drawing/2014/main" id="{EFCAA356-0249-B6D7-2CD6-86D2D2A72A8D}"/>
              </a:ext>
            </a:extLst>
          </p:cNvPr>
          <p:cNvPicPr>
            <a:picLocks noChangeAspect="1"/>
          </p:cNvPicPr>
          <p:nvPr/>
        </p:nvPicPr>
        <p:blipFill>
          <a:blip r:embed="rId4"/>
          <a:stretch>
            <a:fillRect/>
          </a:stretch>
        </p:blipFill>
        <p:spPr>
          <a:xfrm>
            <a:off x="3348017" y="542904"/>
            <a:ext cx="5495965" cy="5772192"/>
          </a:xfrm>
          <a:prstGeom prst="rect">
            <a:avLst/>
          </a:prstGeom>
        </p:spPr>
      </p:pic>
    </p:spTree>
    <p:extLst>
      <p:ext uri="{BB962C8B-B14F-4D97-AF65-F5344CB8AC3E}">
        <p14:creationId xmlns:p14="http://schemas.microsoft.com/office/powerpoint/2010/main" val="145308484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08FD1C-418F-FB43-F616-13742DD2CA0A}"/>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EED0A0BE-31E9-1749-24F4-B3ADE5CDE522}"/>
              </a:ext>
            </a:extLst>
          </p:cNvPr>
          <p:cNvPicPr>
            <a:picLocks noChangeAspect="1"/>
          </p:cNvPicPr>
          <p:nvPr/>
        </p:nvPicPr>
        <p:blipFill>
          <a:blip r:embed="rId2"/>
          <a:stretch>
            <a:fillRect/>
          </a:stretch>
        </p:blipFill>
        <p:spPr>
          <a:xfrm>
            <a:off x="495764" y="205558"/>
            <a:ext cx="1114361" cy="1293043"/>
          </a:xfrm>
          <a:prstGeom prst="rect">
            <a:avLst/>
          </a:prstGeom>
        </p:spPr>
      </p:pic>
      <p:pic>
        <p:nvPicPr>
          <p:cNvPr id="3" name="Picture 2">
            <a:extLst>
              <a:ext uri="{FF2B5EF4-FFF2-40B4-BE49-F238E27FC236}">
                <a16:creationId xmlns:a16="http://schemas.microsoft.com/office/drawing/2014/main" id="{29B5E2BE-9903-F54C-1872-3BCA19E26982}"/>
              </a:ext>
            </a:extLst>
          </p:cNvPr>
          <p:cNvPicPr>
            <a:picLocks noChangeAspect="1"/>
          </p:cNvPicPr>
          <p:nvPr/>
        </p:nvPicPr>
        <p:blipFill>
          <a:blip r:embed="rId3"/>
          <a:stretch>
            <a:fillRect/>
          </a:stretch>
        </p:blipFill>
        <p:spPr>
          <a:xfrm>
            <a:off x="10551008" y="228690"/>
            <a:ext cx="1348892" cy="1199972"/>
          </a:xfrm>
          <a:prstGeom prst="rect">
            <a:avLst/>
          </a:prstGeom>
        </p:spPr>
      </p:pic>
      <p:sp>
        <p:nvSpPr>
          <p:cNvPr id="6" name="TextBox 5">
            <a:extLst>
              <a:ext uri="{FF2B5EF4-FFF2-40B4-BE49-F238E27FC236}">
                <a16:creationId xmlns:a16="http://schemas.microsoft.com/office/drawing/2014/main" id="{8B92003F-B01E-FA2E-F50E-726CC0A849AD}"/>
              </a:ext>
            </a:extLst>
          </p:cNvPr>
          <p:cNvSpPr txBox="1"/>
          <p:nvPr/>
        </p:nvSpPr>
        <p:spPr>
          <a:xfrm>
            <a:off x="1052944" y="1648180"/>
            <a:ext cx="9855200" cy="5115311"/>
          </a:xfrm>
          <a:prstGeom prst="rect">
            <a:avLst/>
          </a:prstGeom>
          <a:noFill/>
        </p:spPr>
        <p:txBody>
          <a:bodyPr wrap="square">
            <a:spAutoFit/>
          </a:bodyPr>
          <a:lstStyle/>
          <a:p>
            <a:pPr marL="342900" lvl="0" indent="-342900" algn="just">
              <a:lnSpc>
                <a:spcPct val="150000"/>
              </a:lnSpc>
              <a:buFont typeface="Arial" panose="020B0604020202020204" pitchFamily="34" charset="0"/>
              <a:buChar char="•"/>
            </a:pPr>
            <a:r>
              <a:rPr lang="en-IN" sz="2000" b="1" dirty="0">
                <a:latin typeface="Times New Roman" panose="02020603050405020304" pitchFamily="18" charset="0"/>
                <a:cs typeface="Times New Roman" panose="02020603050405020304" pitchFamily="18" charset="0"/>
              </a:rPr>
              <a:t>Multiple Savings Goals:</a:t>
            </a:r>
            <a:r>
              <a:rPr lang="en-IN" sz="2000" dirty="0">
                <a:latin typeface="Times New Roman" panose="02020603050405020304" pitchFamily="18" charset="0"/>
                <a:cs typeface="Times New Roman" panose="02020603050405020304" pitchFamily="18" charset="0"/>
              </a:rPr>
              <a:t> Allows students to create and manage savings goals with target amounts and deadlines.</a:t>
            </a:r>
          </a:p>
          <a:p>
            <a:pPr marL="342900" lvl="0" indent="-342900" algn="just">
              <a:lnSpc>
                <a:spcPct val="150000"/>
              </a:lnSpc>
              <a:buFont typeface="Arial" panose="020B0604020202020204" pitchFamily="34" charset="0"/>
              <a:buChar char="•"/>
            </a:pPr>
            <a:r>
              <a:rPr lang="en-IN" sz="2000" b="1" dirty="0">
                <a:latin typeface="Times New Roman" panose="02020603050405020304" pitchFamily="18" charset="0"/>
                <a:cs typeface="Times New Roman" panose="02020603050405020304" pitchFamily="18" charset="0"/>
              </a:rPr>
              <a:t>Savings Progress Tracking:</a:t>
            </a:r>
            <a:r>
              <a:rPr lang="en-IN" sz="2000" dirty="0">
                <a:latin typeface="Times New Roman" panose="02020603050405020304" pitchFamily="18" charset="0"/>
                <a:cs typeface="Times New Roman" panose="02020603050405020304" pitchFamily="18" charset="0"/>
              </a:rPr>
              <a:t> Records contributions and monitors the progress of individual savings goals.</a:t>
            </a:r>
          </a:p>
          <a:p>
            <a:pPr marL="342900" lvl="0" indent="-342900" algn="just">
              <a:lnSpc>
                <a:spcPct val="150000"/>
              </a:lnSpc>
              <a:buFont typeface="Arial" panose="020B0604020202020204" pitchFamily="34" charset="0"/>
              <a:buChar char="•"/>
            </a:pPr>
            <a:r>
              <a:rPr lang="en-IN" sz="2000" b="1" dirty="0">
                <a:latin typeface="Times New Roman" panose="02020603050405020304" pitchFamily="18" charset="0"/>
                <a:cs typeface="Times New Roman" panose="02020603050405020304" pitchFamily="18" charset="0"/>
              </a:rPr>
              <a:t>Smart Savings Allocation:</a:t>
            </a:r>
            <a:r>
              <a:rPr lang="en-IN" sz="2000" dirty="0">
                <a:latin typeface="Times New Roman" panose="02020603050405020304" pitchFamily="18" charset="0"/>
                <a:cs typeface="Times New Roman" panose="02020603050405020304" pitchFamily="18" charset="0"/>
              </a:rPr>
              <a:t> Distributes available savings among different goals based on their priorities and deadlines.</a:t>
            </a:r>
          </a:p>
          <a:p>
            <a:pPr marL="342900" lvl="0" indent="-342900" algn="just">
              <a:lnSpc>
                <a:spcPct val="150000"/>
              </a:lnSpc>
              <a:buFont typeface="Arial" panose="020B0604020202020204" pitchFamily="34" charset="0"/>
              <a:buChar char="•"/>
            </a:pPr>
            <a:r>
              <a:rPr lang="en-IN" sz="2000" b="1" dirty="0">
                <a:latin typeface="Times New Roman" panose="02020603050405020304" pitchFamily="18" charset="0"/>
                <a:cs typeface="Times New Roman" panose="02020603050405020304" pitchFamily="18" charset="0"/>
              </a:rPr>
              <a:t>Savings Timeline Adjustment:</a:t>
            </a:r>
            <a:r>
              <a:rPr lang="en-IN" sz="2000" dirty="0">
                <a:latin typeface="Times New Roman" panose="02020603050405020304" pitchFamily="18" charset="0"/>
                <a:cs typeface="Times New Roman" panose="02020603050405020304" pitchFamily="18" charset="0"/>
              </a:rPr>
              <a:t> Recalculates estimated completion dates based on contributions and available budgets.</a:t>
            </a:r>
          </a:p>
          <a:p>
            <a:pPr marL="342900" lvl="0" indent="-342900" algn="just">
              <a:lnSpc>
                <a:spcPct val="150000"/>
              </a:lnSpc>
              <a:buFont typeface="Arial" panose="020B0604020202020204" pitchFamily="34" charset="0"/>
              <a:buChar char="•"/>
            </a:pPr>
            <a:r>
              <a:rPr lang="en-IN" sz="2000" b="1" dirty="0">
                <a:latin typeface="Times New Roman" panose="02020603050405020304" pitchFamily="18" charset="0"/>
                <a:cs typeface="Times New Roman" panose="02020603050405020304" pitchFamily="18" charset="0"/>
              </a:rPr>
              <a:t>Personalized Savings Recommendations:</a:t>
            </a:r>
            <a:r>
              <a:rPr lang="en-IN" sz="2000" dirty="0">
                <a:latin typeface="Times New Roman" panose="02020603050405020304" pitchFamily="18" charset="0"/>
                <a:cs typeface="Times New Roman" panose="02020603050405020304" pitchFamily="18" charset="0"/>
              </a:rPr>
              <a:t> Suggests affordable contribution amounts to help students achieve their goals without affecting essential expenses.</a:t>
            </a:r>
          </a:p>
          <a:p>
            <a:pPr marL="342900" indent="-342900">
              <a:lnSpc>
                <a:spcPct val="150000"/>
              </a:lnSpc>
              <a:buFont typeface="Arial" panose="020B0604020202020204" pitchFamily="34" charset="0"/>
              <a:buChar char="•"/>
            </a:pPr>
            <a:endParaRPr lang="en-IN" sz="2000" dirty="0">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6345E05A-95B2-284E-9B67-E8737268EA7B}"/>
              </a:ext>
            </a:extLst>
          </p:cNvPr>
          <p:cNvSpPr txBox="1"/>
          <p:nvPr/>
        </p:nvSpPr>
        <p:spPr>
          <a:xfrm>
            <a:off x="2132077" y="570962"/>
            <a:ext cx="8122024" cy="1077218"/>
          </a:xfrm>
          <a:prstGeom prst="rect">
            <a:avLst/>
          </a:prstGeom>
          <a:noFill/>
        </p:spPr>
        <p:txBody>
          <a:bodyPr wrap="square">
            <a:spAutoFit/>
          </a:bodyPr>
          <a:lstStyle/>
          <a:p>
            <a:pPr algn="ctr"/>
            <a:r>
              <a:rPr lang="en-IN" sz="3200" b="1" dirty="0">
                <a:latin typeface="Times New Roman" panose="02020603050405020304" pitchFamily="18" charset="0"/>
                <a:cs typeface="Times New Roman" panose="02020603050405020304" pitchFamily="18" charset="0"/>
              </a:rPr>
              <a:t>Module 4: Goal-Based Savings Optimization</a:t>
            </a:r>
          </a:p>
          <a:p>
            <a:endParaRPr lang="en-IN" sz="32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737827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5062E6-04BA-A45B-5378-96771E5951AD}"/>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0AFB9360-0C92-386A-D86A-56B8069AE70F}"/>
              </a:ext>
            </a:extLst>
          </p:cNvPr>
          <p:cNvPicPr>
            <a:picLocks noChangeAspect="1"/>
          </p:cNvPicPr>
          <p:nvPr/>
        </p:nvPicPr>
        <p:blipFill>
          <a:blip r:embed="rId2"/>
          <a:stretch>
            <a:fillRect/>
          </a:stretch>
        </p:blipFill>
        <p:spPr>
          <a:xfrm>
            <a:off x="495764" y="205558"/>
            <a:ext cx="1114361" cy="1293043"/>
          </a:xfrm>
          <a:prstGeom prst="rect">
            <a:avLst/>
          </a:prstGeom>
        </p:spPr>
      </p:pic>
      <p:pic>
        <p:nvPicPr>
          <p:cNvPr id="3" name="Picture 2">
            <a:extLst>
              <a:ext uri="{FF2B5EF4-FFF2-40B4-BE49-F238E27FC236}">
                <a16:creationId xmlns:a16="http://schemas.microsoft.com/office/drawing/2014/main" id="{688714AD-36EE-D4F9-363B-2C958422FA80}"/>
              </a:ext>
            </a:extLst>
          </p:cNvPr>
          <p:cNvPicPr>
            <a:picLocks noChangeAspect="1"/>
          </p:cNvPicPr>
          <p:nvPr/>
        </p:nvPicPr>
        <p:blipFill>
          <a:blip r:embed="rId3"/>
          <a:stretch>
            <a:fillRect/>
          </a:stretch>
        </p:blipFill>
        <p:spPr>
          <a:xfrm>
            <a:off x="10551008" y="228690"/>
            <a:ext cx="1348892" cy="1199972"/>
          </a:xfrm>
          <a:prstGeom prst="rect">
            <a:avLst/>
          </a:prstGeom>
        </p:spPr>
      </p:pic>
      <p:pic>
        <p:nvPicPr>
          <p:cNvPr id="5" name="Picture 4" descr="The diagram illustrates a step-by-step process for setting and managing savings goals, including assessing budget, prioritizing goals, adjusting contributions, and tracking progress.&#10;&#10;AI-generated content may be incorrect.">
            <a:extLst>
              <a:ext uri="{FF2B5EF4-FFF2-40B4-BE49-F238E27FC236}">
                <a16:creationId xmlns:a16="http://schemas.microsoft.com/office/drawing/2014/main" id="{BA171BD5-1636-7815-9C66-7054E5EDAE9F}"/>
              </a:ext>
            </a:extLst>
          </p:cNvPr>
          <p:cNvPicPr>
            <a:picLocks noChangeAspect="1"/>
          </p:cNvPicPr>
          <p:nvPr/>
        </p:nvPicPr>
        <p:blipFill>
          <a:blip r:embed="rId4"/>
          <a:stretch>
            <a:fillRect/>
          </a:stretch>
        </p:blipFill>
        <p:spPr>
          <a:xfrm>
            <a:off x="3667107" y="406400"/>
            <a:ext cx="4857786" cy="6078071"/>
          </a:xfrm>
          <a:prstGeom prst="rect">
            <a:avLst/>
          </a:prstGeom>
        </p:spPr>
      </p:pic>
    </p:spTree>
    <p:extLst>
      <p:ext uri="{BB962C8B-B14F-4D97-AF65-F5344CB8AC3E}">
        <p14:creationId xmlns:p14="http://schemas.microsoft.com/office/powerpoint/2010/main" val="16169136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2FC161-5F39-942D-4DB6-3762124886D3}"/>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2825B9FF-74E0-F43D-85FD-0C60C8B8894B}"/>
              </a:ext>
            </a:extLst>
          </p:cNvPr>
          <p:cNvPicPr>
            <a:picLocks noChangeAspect="1"/>
          </p:cNvPicPr>
          <p:nvPr/>
        </p:nvPicPr>
        <p:blipFill>
          <a:blip r:embed="rId2"/>
          <a:stretch>
            <a:fillRect/>
          </a:stretch>
        </p:blipFill>
        <p:spPr>
          <a:xfrm>
            <a:off x="495764" y="205558"/>
            <a:ext cx="1114361" cy="1293043"/>
          </a:xfrm>
          <a:prstGeom prst="rect">
            <a:avLst/>
          </a:prstGeom>
        </p:spPr>
      </p:pic>
      <p:pic>
        <p:nvPicPr>
          <p:cNvPr id="3" name="Picture 2">
            <a:extLst>
              <a:ext uri="{FF2B5EF4-FFF2-40B4-BE49-F238E27FC236}">
                <a16:creationId xmlns:a16="http://schemas.microsoft.com/office/drawing/2014/main" id="{A8297B17-EC9F-C736-5C40-480E3ED95739}"/>
              </a:ext>
            </a:extLst>
          </p:cNvPr>
          <p:cNvPicPr>
            <a:picLocks noChangeAspect="1"/>
          </p:cNvPicPr>
          <p:nvPr/>
        </p:nvPicPr>
        <p:blipFill>
          <a:blip r:embed="rId3"/>
          <a:stretch>
            <a:fillRect/>
          </a:stretch>
        </p:blipFill>
        <p:spPr>
          <a:xfrm>
            <a:off x="10551008" y="228690"/>
            <a:ext cx="1348892" cy="1199972"/>
          </a:xfrm>
          <a:prstGeom prst="rect">
            <a:avLst/>
          </a:prstGeom>
        </p:spPr>
      </p:pic>
      <p:pic>
        <p:nvPicPr>
          <p:cNvPr id="5" name="Picture 4" descr="The image is a user interface of BudgetBuddy's dashboard, showcasing an allowance management tool with a forecast of remaining funds, daily spend average, and a survival estimate based on recent spending habits.&#10;&#10;AI-generated content may be incorrect.">
            <a:extLst>
              <a:ext uri="{FF2B5EF4-FFF2-40B4-BE49-F238E27FC236}">
                <a16:creationId xmlns:a16="http://schemas.microsoft.com/office/drawing/2014/main" id="{8BE10EA6-52AA-5467-536A-23639862C564}"/>
              </a:ext>
            </a:extLst>
          </p:cNvPr>
          <p:cNvPicPr>
            <a:picLocks noChangeAspect="1"/>
          </p:cNvPicPr>
          <p:nvPr/>
        </p:nvPicPr>
        <p:blipFill>
          <a:blip r:embed="rId4"/>
          <a:stretch>
            <a:fillRect/>
          </a:stretch>
        </p:blipFill>
        <p:spPr>
          <a:xfrm>
            <a:off x="1562067" y="1236460"/>
            <a:ext cx="9067866" cy="4086255"/>
          </a:xfrm>
          <a:prstGeom prst="rect">
            <a:avLst/>
          </a:prstGeom>
        </p:spPr>
      </p:pic>
      <p:sp>
        <p:nvSpPr>
          <p:cNvPr id="9" name="TextBox 8">
            <a:extLst>
              <a:ext uri="{FF2B5EF4-FFF2-40B4-BE49-F238E27FC236}">
                <a16:creationId xmlns:a16="http://schemas.microsoft.com/office/drawing/2014/main" id="{99C5FF74-ADE6-5D89-C11C-DB154882DA03}"/>
              </a:ext>
            </a:extLst>
          </p:cNvPr>
          <p:cNvSpPr txBox="1"/>
          <p:nvPr/>
        </p:nvSpPr>
        <p:spPr>
          <a:xfrm>
            <a:off x="495764" y="5705980"/>
            <a:ext cx="11290300" cy="923330"/>
          </a:xfrm>
          <a:prstGeom prst="rect">
            <a:avLst/>
          </a:prstGeom>
          <a:noFill/>
        </p:spPr>
        <p:txBody>
          <a:bodyPr wrap="square">
            <a:spAutoFit/>
          </a:bodyPr>
          <a:lstStyle/>
          <a:p>
            <a:pPr algn="just"/>
            <a:r>
              <a:rPr lang="en-IN" sz="1800" b="0" i="0" dirty="0">
                <a:solidFill>
                  <a:schemeClr val="tx1"/>
                </a:solidFill>
                <a:effectLst/>
                <a:latin typeface="Times New Roman" panose="02020603050405020304" pitchFamily="18" charset="0"/>
                <a:cs typeface="Times New Roman" panose="02020603050405020304" pitchFamily="18" charset="0"/>
              </a:rPr>
              <a:t>Helps students manage their monthly allowance by </a:t>
            </a:r>
            <a:r>
              <a:rPr lang="en-IN" sz="1800" b="0" i="0" dirty="0" err="1">
                <a:solidFill>
                  <a:schemeClr val="tx1"/>
                </a:solidFill>
                <a:effectLst/>
                <a:latin typeface="Times New Roman" panose="02020603050405020304" pitchFamily="18" charset="0"/>
                <a:cs typeface="Times New Roman" panose="02020603050405020304" pitchFamily="18" charset="0"/>
              </a:rPr>
              <a:t>analyzing</a:t>
            </a:r>
            <a:r>
              <a:rPr lang="en-IN" sz="1800" b="0" i="0" dirty="0">
                <a:solidFill>
                  <a:schemeClr val="tx1"/>
                </a:solidFill>
                <a:effectLst/>
                <a:latin typeface="Times New Roman" panose="02020603050405020304" pitchFamily="18" charset="0"/>
                <a:cs typeface="Times New Roman" panose="02020603050405020304" pitchFamily="18" charset="0"/>
              </a:rPr>
              <a:t> daily expenses and spending patterns. It calculates the remaining balance, average daily spending, and estimated budget duration. The Allowance Survival Predictor and Smart Allowance Splitter help students plan expenses efficiently and maintain financial stability.</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6708427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A263D4-A25A-767E-7196-B1E6EE9885A0}"/>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03345894-9A16-267D-63B1-72FFC051637A}"/>
              </a:ext>
            </a:extLst>
          </p:cNvPr>
          <p:cNvPicPr>
            <a:picLocks noChangeAspect="1"/>
          </p:cNvPicPr>
          <p:nvPr/>
        </p:nvPicPr>
        <p:blipFill>
          <a:blip r:embed="rId2"/>
          <a:stretch>
            <a:fillRect/>
          </a:stretch>
        </p:blipFill>
        <p:spPr>
          <a:xfrm>
            <a:off x="495764" y="205558"/>
            <a:ext cx="1114361" cy="1293043"/>
          </a:xfrm>
          <a:prstGeom prst="rect">
            <a:avLst/>
          </a:prstGeom>
        </p:spPr>
      </p:pic>
      <p:pic>
        <p:nvPicPr>
          <p:cNvPr id="3" name="Picture 2">
            <a:extLst>
              <a:ext uri="{FF2B5EF4-FFF2-40B4-BE49-F238E27FC236}">
                <a16:creationId xmlns:a16="http://schemas.microsoft.com/office/drawing/2014/main" id="{C105CD34-4B01-655F-5420-5A4D8CAEC24A}"/>
              </a:ext>
            </a:extLst>
          </p:cNvPr>
          <p:cNvPicPr>
            <a:picLocks noChangeAspect="1"/>
          </p:cNvPicPr>
          <p:nvPr/>
        </p:nvPicPr>
        <p:blipFill>
          <a:blip r:embed="rId3"/>
          <a:stretch>
            <a:fillRect/>
          </a:stretch>
        </p:blipFill>
        <p:spPr>
          <a:xfrm>
            <a:off x="10551008" y="228690"/>
            <a:ext cx="1348892" cy="1199972"/>
          </a:xfrm>
          <a:prstGeom prst="rect">
            <a:avLst/>
          </a:prstGeom>
        </p:spPr>
      </p:pic>
      <p:pic>
        <p:nvPicPr>
          <p:cNvPr id="5" name="Picture 4" descr="The image displays a BudgetBuddy dashboard with sections for tracking expenses, categorizing spending, and suggesting cost-saving alternatives.&#10;&#10;AI-generated content may be incorrect.">
            <a:extLst>
              <a:ext uri="{FF2B5EF4-FFF2-40B4-BE49-F238E27FC236}">
                <a16:creationId xmlns:a16="http://schemas.microsoft.com/office/drawing/2014/main" id="{4C3E8AC7-1AB0-E8EC-F57B-E9D9DE3059C5}"/>
              </a:ext>
            </a:extLst>
          </p:cNvPr>
          <p:cNvPicPr>
            <a:picLocks noChangeAspect="1"/>
          </p:cNvPicPr>
          <p:nvPr/>
        </p:nvPicPr>
        <p:blipFill>
          <a:blip r:embed="rId4"/>
          <a:stretch>
            <a:fillRect/>
          </a:stretch>
        </p:blipFill>
        <p:spPr>
          <a:xfrm>
            <a:off x="1556159" y="1236368"/>
            <a:ext cx="9048816" cy="4038630"/>
          </a:xfrm>
          <a:prstGeom prst="rect">
            <a:avLst/>
          </a:prstGeom>
        </p:spPr>
      </p:pic>
      <p:sp>
        <p:nvSpPr>
          <p:cNvPr id="7" name="TextBox 6">
            <a:extLst>
              <a:ext uri="{FF2B5EF4-FFF2-40B4-BE49-F238E27FC236}">
                <a16:creationId xmlns:a16="http://schemas.microsoft.com/office/drawing/2014/main" id="{8CCB0B44-6063-E759-BB19-7BFFC9041D9A}"/>
              </a:ext>
            </a:extLst>
          </p:cNvPr>
          <p:cNvSpPr txBox="1"/>
          <p:nvPr/>
        </p:nvSpPr>
        <p:spPr>
          <a:xfrm>
            <a:off x="376518" y="5705980"/>
            <a:ext cx="11648141" cy="923330"/>
          </a:xfrm>
          <a:prstGeom prst="rect">
            <a:avLst/>
          </a:prstGeom>
          <a:noFill/>
        </p:spPr>
        <p:txBody>
          <a:bodyPr wrap="square">
            <a:spAutoFit/>
          </a:bodyPr>
          <a:lstStyle/>
          <a:p>
            <a:pPr algn="just"/>
            <a:r>
              <a:rPr lang="en-IN" sz="1800" b="0" i="0" dirty="0" err="1">
                <a:solidFill>
                  <a:schemeClr val="tx1"/>
                </a:solidFill>
                <a:effectLst/>
                <a:latin typeface="Times New Roman" panose="02020603050405020304" pitchFamily="18" charset="0"/>
                <a:cs typeface="Times New Roman" panose="02020603050405020304" pitchFamily="18" charset="0"/>
              </a:rPr>
              <a:t>Analyzes</a:t>
            </a:r>
            <a:r>
              <a:rPr lang="en-IN" sz="1800" b="0" i="0" dirty="0">
                <a:solidFill>
                  <a:schemeClr val="tx1"/>
                </a:solidFill>
                <a:effectLst/>
                <a:latin typeface="Times New Roman" panose="02020603050405020304" pitchFamily="18" charset="0"/>
                <a:cs typeface="Times New Roman" panose="02020603050405020304" pitchFamily="18" charset="0"/>
              </a:rPr>
              <a:t> category-wise expenses and identifies unnecessary spending habits. It allows students to record transactions, classify expenses based on priority, and compare spending alternatives. The system highlights potential savings opportunities and encourages students to prioritize essential needs over unnecessary wants.</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4316249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BB5714-12B6-E71D-98F9-525F90C93B38}"/>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08A91B55-4282-EEB6-47DA-D8DDF195455A}"/>
              </a:ext>
            </a:extLst>
          </p:cNvPr>
          <p:cNvPicPr>
            <a:picLocks noChangeAspect="1"/>
          </p:cNvPicPr>
          <p:nvPr/>
        </p:nvPicPr>
        <p:blipFill>
          <a:blip r:embed="rId2"/>
          <a:stretch>
            <a:fillRect/>
          </a:stretch>
        </p:blipFill>
        <p:spPr>
          <a:xfrm>
            <a:off x="495764" y="205558"/>
            <a:ext cx="1114361" cy="1293043"/>
          </a:xfrm>
          <a:prstGeom prst="rect">
            <a:avLst/>
          </a:prstGeom>
        </p:spPr>
      </p:pic>
      <p:pic>
        <p:nvPicPr>
          <p:cNvPr id="3" name="Picture 2">
            <a:extLst>
              <a:ext uri="{FF2B5EF4-FFF2-40B4-BE49-F238E27FC236}">
                <a16:creationId xmlns:a16="http://schemas.microsoft.com/office/drawing/2014/main" id="{7C7F1400-06FF-12E0-F478-78E693B1A5B0}"/>
              </a:ext>
            </a:extLst>
          </p:cNvPr>
          <p:cNvPicPr>
            <a:picLocks noChangeAspect="1"/>
          </p:cNvPicPr>
          <p:nvPr/>
        </p:nvPicPr>
        <p:blipFill>
          <a:blip r:embed="rId3"/>
          <a:stretch>
            <a:fillRect/>
          </a:stretch>
        </p:blipFill>
        <p:spPr>
          <a:xfrm>
            <a:off x="10551008" y="228690"/>
            <a:ext cx="1348892" cy="1199972"/>
          </a:xfrm>
          <a:prstGeom prst="rect">
            <a:avLst/>
          </a:prstGeom>
        </p:spPr>
      </p:pic>
      <p:pic>
        <p:nvPicPr>
          <p:cNvPr id="5" name="Picture 4" descr="The BudgetBuddy dashboard includes features for managing finances, such as a pause-predict-decide module, an emergency mode simulator, and a what-if tool for assessing affordability.&#10;&#10;AI-generated content may be incorrect.">
            <a:extLst>
              <a:ext uri="{FF2B5EF4-FFF2-40B4-BE49-F238E27FC236}">
                <a16:creationId xmlns:a16="http://schemas.microsoft.com/office/drawing/2014/main" id="{36EFF2D5-2907-38F2-F0CE-0FBA34DD7228}"/>
              </a:ext>
            </a:extLst>
          </p:cNvPr>
          <p:cNvPicPr>
            <a:picLocks noChangeAspect="1"/>
          </p:cNvPicPr>
          <p:nvPr/>
        </p:nvPicPr>
        <p:blipFill>
          <a:blip r:embed="rId4"/>
          <a:stretch>
            <a:fillRect/>
          </a:stretch>
        </p:blipFill>
        <p:spPr>
          <a:xfrm>
            <a:off x="1551396" y="1142910"/>
            <a:ext cx="9058341" cy="3743352"/>
          </a:xfrm>
          <a:prstGeom prst="rect">
            <a:avLst/>
          </a:prstGeom>
        </p:spPr>
      </p:pic>
      <p:sp>
        <p:nvSpPr>
          <p:cNvPr id="7" name="TextBox 6">
            <a:extLst>
              <a:ext uri="{FF2B5EF4-FFF2-40B4-BE49-F238E27FC236}">
                <a16:creationId xmlns:a16="http://schemas.microsoft.com/office/drawing/2014/main" id="{0F03B698-98B0-B596-14DC-A2360535FE62}"/>
              </a:ext>
            </a:extLst>
          </p:cNvPr>
          <p:cNvSpPr txBox="1"/>
          <p:nvPr/>
        </p:nvSpPr>
        <p:spPr>
          <a:xfrm>
            <a:off x="197223" y="5529290"/>
            <a:ext cx="11797553" cy="923330"/>
          </a:xfrm>
          <a:prstGeom prst="rect">
            <a:avLst/>
          </a:prstGeom>
          <a:noFill/>
        </p:spPr>
        <p:txBody>
          <a:bodyPr wrap="square">
            <a:spAutoFit/>
          </a:bodyPr>
          <a:lstStyle/>
          <a:p>
            <a:pPr algn="just"/>
            <a:r>
              <a:rPr lang="en-IN" sz="1800" b="0" i="0" dirty="0">
                <a:solidFill>
                  <a:schemeClr val="tx1"/>
                </a:solidFill>
                <a:effectLst/>
                <a:latin typeface="Times New Roman" panose="02020603050405020304" pitchFamily="18" charset="0"/>
                <a:cs typeface="Times New Roman" panose="02020603050405020304" pitchFamily="18" charset="0"/>
              </a:rPr>
              <a:t>Helps students evaluate financial risks before making purchases. The What-If Simulator estimates the impact of planned expenses on the available budget. Financial Emergency Mode monitors essential expense reserves and provides guidance for adjusting spending decisions to avoid financial difficulties.</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7980167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432A43-7C4F-F214-B2C9-BE32704DDCF6}"/>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67ADA1F5-AB9B-5030-9CCB-ECABD4348DE9}"/>
              </a:ext>
            </a:extLst>
          </p:cNvPr>
          <p:cNvPicPr>
            <a:picLocks noChangeAspect="1"/>
          </p:cNvPicPr>
          <p:nvPr/>
        </p:nvPicPr>
        <p:blipFill>
          <a:blip r:embed="rId2"/>
          <a:stretch>
            <a:fillRect/>
          </a:stretch>
        </p:blipFill>
        <p:spPr>
          <a:xfrm>
            <a:off x="495764" y="205558"/>
            <a:ext cx="1114361" cy="1293043"/>
          </a:xfrm>
          <a:prstGeom prst="rect">
            <a:avLst/>
          </a:prstGeom>
        </p:spPr>
      </p:pic>
      <p:pic>
        <p:nvPicPr>
          <p:cNvPr id="3" name="Picture 2">
            <a:extLst>
              <a:ext uri="{FF2B5EF4-FFF2-40B4-BE49-F238E27FC236}">
                <a16:creationId xmlns:a16="http://schemas.microsoft.com/office/drawing/2014/main" id="{A742C748-4C66-C66E-E7A5-476FAC58F9DD}"/>
              </a:ext>
            </a:extLst>
          </p:cNvPr>
          <p:cNvPicPr>
            <a:picLocks noChangeAspect="1"/>
          </p:cNvPicPr>
          <p:nvPr/>
        </p:nvPicPr>
        <p:blipFill>
          <a:blip r:embed="rId3"/>
          <a:stretch>
            <a:fillRect/>
          </a:stretch>
        </p:blipFill>
        <p:spPr>
          <a:xfrm>
            <a:off x="10551008" y="228690"/>
            <a:ext cx="1348892" cy="1199972"/>
          </a:xfrm>
          <a:prstGeom prst="rect">
            <a:avLst/>
          </a:prstGeom>
        </p:spPr>
      </p:pic>
      <p:pic>
        <p:nvPicPr>
          <p:cNvPr id="5" name="Picture 4" descr="BudgetBuddy's dashboard displays various budgeting tools, including goal creation, savings planning, and spending tracking.&#10;&#10;AI-generated content may be incorrect.">
            <a:extLst>
              <a:ext uri="{FF2B5EF4-FFF2-40B4-BE49-F238E27FC236}">
                <a16:creationId xmlns:a16="http://schemas.microsoft.com/office/drawing/2014/main" id="{D3C51BC1-8D43-1B0A-9222-B251F3E0F3D7}"/>
              </a:ext>
            </a:extLst>
          </p:cNvPr>
          <p:cNvPicPr>
            <a:picLocks noChangeAspect="1"/>
          </p:cNvPicPr>
          <p:nvPr/>
        </p:nvPicPr>
        <p:blipFill>
          <a:blip r:embed="rId4"/>
          <a:stretch>
            <a:fillRect/>
          </a:stretch>
        </p:blipFill>
        <p:spPr>
          <a:xfrm>
            <a:off x="1556159" y="1103578"/>
            <a:ext cx="9048816" cy="3981479"/>
          </a:xfrm>
          <a:prstGeom prst="rect">
            <a:avLst/>
          </a:prstGeom>
        </p:spPr>
      </p:pic>
      <p:sp>
        <p:nvSpPr>
          <p:cNvPr id="7" name="TextBox 6">
            <a:extLst>
              <a:ext uri="{FF2B5EF4-FFF2-40B4-BE49-F238E27FC236}">
                <a16:creationId xmlns:a16="http://schemas.microsoft.com/office/drawing/2014/main" id="{A422E589-84F0-8413-C509-D5E627F76EFC}"/>
              </a:ext>
            </a:extLst>
          </p:cNvPr>
          <p:cNvSpPr txBox="1"/>
          <p:nvPr/>
        </p:nvSpPr>
        <p:spPr>
          <a:xfrm>
            <a:off x="256988" y="5498280"/>
            <a:ext cx="11779624" cy="923330"/>
          </a:xfrm>
          <a:prstGeom prst="rect">
            <a:avLst/>
          </a:prstGeom>
          <a:noFill/>
        </p:spPr>
        <p:txBody>
          <a:bodyPr wrap="square">
            <a:spAutoFit/>
          </a:bodyPr>
          <a:lstStyle/>
          <a:p>
            <a:pPr algn="just"/>
            <a:r>
              <a:rPr lang="en-IN" sz="1800" b="0" i="0" dirty="0">
                <a:solidFill>
                  <a:schemeClr val="tx1"/>
                </a:solidFill>
                <a:effectLst/>
                <a:latin typeface="Times New Roman" panose="02020603050405020304" pitchFamily="18" charset="0"/>
                <a:cs typeface="Times New Roman" panose="02020603050405020304" pitchFamily="18" charset="0"/>
              </a:rPr>
              <a:t>Enables students to create and manage multiple savings goals with specific target amounts and deadlines. The Adaptive Savings Guide calculates weekly and monthly contribution targets based on the available budget. It supports savings progress tracking and encourages students to achieve financial goals without compromising essential expenses.</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7313655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5E401F-DC5D-18ED-C896-44D46F9E5EC1}"/>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0F292B48-284F-F293-D058-D9EF538FE9CE}"/>
              </a:ext>
            </a:extLst>
          </p:cNvPr>
          <p:cNvPicPr>
            <a:picLocks noChangeAspect="1"/>
          </p:cNvPicPr>
          <p:nvPr/>
        </p:nvPicPr>
        <p:blipFill>
          <a:blip r:embed="rId2"/>
          <a:stretch>
            <a:fillRect/>
          </a:stretch>
        </p:blipFill>
        <p:spPr>
          <a:xfrm>
            <a:off x="495764" y="205558"/>
            <a:ext cx="1114361" cy="1293043"/>
          </a:xfrm>
          <a:prstGeom prst="rect">
            <a:avLst/>
          </a:prstGeom>
        </p:spPr>
      </p:pic>
      <p:pic>
        <p:nvPicPr>
          <p:cNvPr id="3" name="Picture 2">
            <a:extLst>
              <a:ext uri="{FF2B5EF4-FFF2-40B4-BE49-F238E27FC236}">
                <a16:creationId xmlns:a16="http://schemas.microsoft.com/office/drawing/2014/main" id="{F5AA9D8B-50BF-2070-BECE-7709D9037EAD}"/>
              </a:ext>
            </a:extLst>
          </p:cNvPr>
          <p:cNvPicPr>
            <a:picLocks noChangeAspect="1"/>
          </p:cNvPicPr>
          <p:nvPr/>
        </p:nvPicPr>
        <p:blipFill>
          <a:blip r:embed="rId3"/>
          <a:stretch>
            <a:fillRect/>
          </a:stretch>
        </p:blipFill>
        <p:spPr>
          <a:xfrm>
            <a:off x="10551008" y="228690"/>
            <a:ext cx="1348892" cy="1199972"/>
          </a:xfrm>
          <a:prstGeom prst="rect">
            <a:avLst/>
          </a:prstGeom>
        </p:spPr>
      </p:pic>
      <p:sp>
        <p:nvSpPr>
          <p:cNvPr id="5" name="TextBox 4">
            <a:extLst>
              <a:ext uri="{FF2B5EF4-FFF2-40B4-BE49-F238E27FC236}">
                <a16:creationId xmlns:a16="http://schemas.microsoft.com/office/drawing/2014/main" id="{551F8C3E-54F5-0C2B-7181-11B46997A5C8}"/>
              </a:ext>
            </a:extLst>
          </p:cNvPr>
          <p:cNvSpPr txBox="1"/>
          <p:nvPr/>
        </p:nvSpPr>
        <p:spPr>
          <a:xfrm>
            <a:off x="4927319" y="536288"/>
            <a:ext cx="2306495" cy="584775"/>
          </a:xfrm>
          <a:prstGeom prst="rect">
            <a:avLst/>
          </a:prstGeom>
          <a:noFill/>
        </p:spPr>
        <p:txBody>
          <a:bodyPr wrap="square">
            <a:spAutoFit/>
          </a:bodyPr>
          <a:lstStyle/>
          <a:p>
            <a:r>
              <a:rPr lang="en-IN" sz="3200" b="1" dirty="0">
                <a:latin typeface="Times New Roman" panose="02020603050405020304" pitchFamily="18" charset="0"/>
                <a:cs typeface="Times New Roman" panose="02020603050405020304" pitchFamily="18" charset="0"/>
              </a:rPr>
              <a:t>Conclusion</a:t>
            </a:r>
          </a:p>
        </p:txBody>
      </p:sp>
      <p:sp>
        <p:nvSpPr>
          <p:cNvPr id="7" name="TextBox 6">
            <a:extLst>
              <a:ext uri="{FF2B5EF4-FFF2-40B4-BE49-F238E27FC236}">
                <a16:creationId xmlns:a16="http://schemas.microsoft.com/office/drawing/2014/main" id="{D3E45D2E-D535-632B-DB8A-6F9B4077A171}"/>
              </a:ext>
            </a:extLst>
          </p:cNvPr>
          <p:cNvSpPr txBox="1"/>
          <p:nvPr/>
        </p:nvSpPr>
        <p:spPr>
          <a:xfrm>
            <a:off x="1323788" y="1428662"/>
            <a:ext cx="9544424" cy="5115311"/>
          </a:xfrm>
          <a:prstGeom prst="rect">
            <a:avLst/>
          </a:prstGeom>
          <a:noFill/>
        </p:spPr>
        <p:txBody>
          <a:bodyPr wrap="square">
            <a:spAutoFit/>
          </a:bodyPr>
          <a:lstStyle/>
          <a:p>
            <a:pPr marL="285750" lvl="0" indent="-285750" algn="just">
              <a:lnSpc>
                <a:spcPct val="150000"/>
              </a:lnSpc>
              <a:buFont typeface="Arial" panose="020B0604020202020204" pitchFamily="34" charset="0"/>
              <a:buChar char="•"/>
            </a:pPr>
            <a:r>
              <a:rPr lang="en-IN" sz="2000" b="1" dirty="0" err="1">
                <a:latin typeface="Times New Roman" panose="02020603050405020304" pitchFamily="18" charset="0"/>
                <a:cs typeface="Times New Roman" panose="02020603050405020304" pitchFamily="18" charset="0"/>
              </a:rPr>
              <a:t>BudgetBuddy</a:t>
            </a:r>
            <a:r>
              <a:rPr lang="en-IN" sz="2000" dirty="0">
                <a:latin typeface="Times New Roman" panose="02020603050405020304" pitchFamily="18" charset="0"/>
                <a:cs typeface="Times New Roman" panose="02020603050405020304" pitchFamily="18" charset="0"/>
              </a:rPr>
              <a:t> is an adaptive student expense and savings optimization system developed using Object-Oriented C++.</a:t>
            </a:r>
          </a:p>
          <a:p>
            <a:pPr marL="285750" lvl="0" indent="-285750" algn="just">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The system integrates </a:t>
            </a:r>
            <a:r>
              <a:rPr lang="en-IN" sz="2000" b="1" dirty="0">
                <a:latin typeface="Times New Roman" panose="02020603050405020304" pitchFamily="18" charset="0"/>
                <a:cs typeface="Times New Roman" panose="02020603050405020304" pitchFamily="18" charset="0"/>
              </a:rPr>
              <a:t>four modules</a:t>
            </a:r>
            <a:r>
              <a:rPr lang="en-IN" sz="2000" dirty="0">
                <a:latin typeface="Times New Roman" panose="02020603050405020304" pitchFamily="18" charset="0"/>
                <a:cs typeface="Times New Roman" panose="02020603050405020304" pitchFamily="18" charset="0"/>
              </a:rPr>
              <a:t> for allowance management, spending analysis, financial risk simulation, and goal-based savings optimization.</a:t>
            </a:r>
          </a:p>
          <a:p>
            <a:pPr marL="285750" lvl="0" indent="-285750" algn="just">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It goes beyond traditional expense tracking by providing </a:t>
            </a:r>
            <a:r>
              <a:rPr lang="en-IN" sz="2000" b="1" dirty="0">
                <a:latin typeface="Times New Roman" panose="02020603050405020304" pitchFamily="18" charset="0"/>
                <a:cs typeface="Times New Roman" panose="02020603050405020304" pitchFamily="18" charset="0"/>
              </a:rPr>
              <a:t>dynamic spending limits, expense prioritization, and personalized budget recommendations</a:t>
            </a:r>
            <a:r>
              <a:rPr lang="en-IN" sz="2000" dirty="0">
                <a:latin typeface="Times New Roman" panose="02020603050405020304" pitchFamily="18" charset="0"/>
                <a:cs typeface="Times New Roman" panose="02020603050405020304" pitchFamily="18" charset="0"/>
              </a:rPr>
              <a:t>.</a:t>
            </a:r>
          </a:p>
          <a:p>
            <a:pPr marL="285750" lvl="0" indent="-285750" algn="just">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The system helps students make informed financial decisions, manage unexpected expenses, and plan savings effectively.</a:t>
            </a:r>
          </a:p>
          <a:p>
            <a:pPr marL="285750" lvl="0" indent="-285750" algn="just">
              <a:lnSpc>
                <a:spcPct val="150000"/>
              </a:lnSpc>
              <a:buFont typeface="Arial" panose="020B0604020202020204" pitchFamily="34" charset="0"/>
              <a:buChar char="•"/>
            </a:pPr>
            <a:r>
              <a:rPr lang="en-IN" sz="2000" b="1" dirty="0">
                <a:latin typeface="Times New Roman" panose="02020603050405020304" pitchFamily="18" charset="0"/>
                <a:cs typeface="Times New Roman" panose="02020603050405020304" pitchFamily="18" charset="0"/>
              </a:rPr>
              <a:t>Overall Outcome:</a:t>
            </a:r>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BudgetBuddy</a:t>
            </a:r>
            <a:r>
              <a:rPr lang="en-IN" sz="2000" dirty="0">
                <a:latin typeface="Times New Roman" panose="02020603050405020304" pitchFamily="18" charset="0"/>
                <a:cs typeface="Times New Roman" panose="02020603050405020304" pitchFamily="18" charset="0"/>
              </a:rPr>
              <a:t> aims to improve students' financial awareness, encourage responsible spending habits, and support long-term financial stability.</a:t>
            </a:r>
          </a:p>
          <a:p>
            <a:pPr>
              <a:lnSpc>
                <a:spcPct val="150000"/>
              </a:lnSpc>
            </a:pP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6773884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1613D2-03D8-AB35-82DF-C3C9971FAD99}"/>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6296D84A-85E3-306A-6E10-13992ABECB9B}"/>
              </a:ext>
            </a:extLst>
          </p:cNvPr>
          <p:cNvPicPr>
            <a:picLocks noChangeAspect="1"/>
          </p:cNvPicPr>
          <p:nvPr/>
        </p:nvPicPr>
        <p:blipFill>
          <a:blip r:embed="rId2"/>
          <a:stretch>
            <a:fillRect/>
          </a:stretch>
        </p:blipFill>
        <p:spPr>
          <a:xfrm>
            <a:off x="495764" y="205558"/>
            <a:ext cx="1114361" cy="1293043"/>
          </a:xfrm>
          <a:prstGeom prst="rect">
            <a:avLst/>
          </a:prstGeom>
        </p:spPr>
      </p:pic>
      <p:pic>
        <p:nvPicPr>
          <p:cNvPr id="3" name="Picture 2">
            <a:extLst>
              <a:ext uri="{FF2B5EF4-FFF2-40B4-BE49-F238E27FC236}">
                <a16:creationId xmlns:a16="http://schemas.microsoft.com/office/drawing/2014/main" id="{8060021C-A3AB-DDFE-BA54-F2F00CB8DE45}"/>
              </a:ext>
            </a:extLst>
          </p:cNvPr>
          <p:cNvPicPr>
            <a:picLocks noChangeAspect="1"/>
          </p:cNvPicPr>
          <p:nvPr/>
        </p:nvPicPr>
        <p:blipFill>
          <a:blip r:embed="rId3"/>
          <a:stretch>
            <a:fillRect/>
          </a:stretch>
        </p:blipFill>
        <p:spPr>
          <a:xfrm>
            <a:off x="10551008" y="228690"/>
            <a:ext cx="1348892" cy="1199972"/>
          </a:xfrm>
          <a:prstGeom prst="rect">
            <a:avLst/>
          </a:prstGeom>
        </p:spPr>
      </p:pic>
      <p:sp>
        <p:nvSpPr>
          <p:cNvPr id="5" name="TextBox 4">
            <a:extLst>
              <a:ext uri="{FF2B5EF4-FFF2-40B4-BE49-F238E27FC236}">
                <a16:creationId xmlns:a16="http://schemas.microsoft.com/office/drawing/2014/main" id="{94A0648B-8C85-40CA-96EB-26973BBBCB66}"/>
              </a:ext>
            </a:extLst>
          </p:cNvPr>
          <p:cNvSpPr txBox="1"/>
          <p:nvPr/>
        </p:nvSpPr>
        <p:spPr>
          <a:xfrm>
            <a:off x="4927319" y="536288"/>
            <a:ext cx="2504839" cy="584775"/>
          </a:xfrm>
          <a:prstGeom prst="rect">
            <a:avLst/>
          </a:prstGeom>
          <a:noFill/>
        </p:spPr>
        <p:txBody>
          <a:bodyPr wrap="square">
            <a:spAutoFit/>
          </a:bodyPr>
          <a:lstStyle/>
          <a:p>
            <a:r>
              <a:rPr lang="en-IN" sz="3200" b="1" dirty="0">
                <a:latin typeface="Times New Roman" panose="02020603050405020304" pitchFamily="18" charset="0"/>
                <a:cs typeface="Times New Roman" panose="02020603050405020304" pitchFamily="18" charset="0"/>
              </a:rPr>
              <a:t>Future Scope</a:t>
            </a:r>
          </a:p>
        </p:txBody>
      </p:sp>
      <p:sp>
        <p:nvSpPr>
          <p:cNvPr id="7" name="TextBox 6">
            <a:extLst>
              <a:ext uri="{FF2B5EF4-FFF2-40B4-BE49-F238E27FC236}">
                <a16:creationId xmlns:a16="http://schemas.microsoft.com/office/drawing/2014/main" id="{FEA237C8-9137-B1DE-9394-C0658F17DA01}"/>
              </a:ext>
            </a:extLst>
          </p:cNvPr>
          <p:cNvSpPr txBox="1"/>
          <p:nvPr/>
        </p:nvSpPr>
        <p:spPr>
          <a:xfrm>
            <a:off x="1323788" y="1428662"/>
            <a:ext cx="9544424" cy="4653646"/>
          </a:xfrm>
          <a:prstGeom prst="rect">
            <a:avLst/>
          </a:prstGeom>
          <a:noFill/>
        </p:spPr>
        <p:txBody>
          <a:bodyPr wrap="square">
            <a:spAutoFit/>
          </a:bodyPr>
          <a:lstStyle/>
          <a:p>
            <a:pPr marL="285750" lvl="0" indent="-285750" algn="just">
              <a:lnSpc>
                <a:spcPct val="150000"/>
              </a:lnSpc>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AI-Based Expense Prediction:</a:t>
            </a:r>
            <a:r>
              <a:rPr lang="en-IN" dirty="0">
                <a:latin typeface="Times New Roman" panose="02020603050405020304" pitchFamily="18" charset="0"/>
                <a:cs typeface="Times New Roman" panose="02020603050405020304" pitchFamily="18" charset="0"/>
              </a:rPr>
              <a:t> Implement machine learning algorithms to predict future expenses based on students' spending patterns.</a:t>
            </a:r>
          </a:p>
          <a:p>
            <a:pPr marL="285750" lvl="0" indent="-285750" algn="just">
              <a:lnSpc>
                <a:spcPct val="150000"/>
              </a:lnSpc>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Banking Integration:</a:t>
            </a:r>
            <a:r>
              <a:rPr lang="en-IN" dirty="0">
                <a:latin typeface="Times New Roman" panose="02020603050405020304" pitchFamily="18" charset="0"/>
                <a:cs typeface="Times New Roman" panose="02020603050405020304" pitchFamily="18" charset="0"/>
              </a:rPr>
              <a:t> Connect bank accounts and digital payment platforms to automatically record and categorize transactions.</a:t>
            </a:r>
          </a:p>
          <a:p>
            <a:pPr marL="285750" lvl="0" indent="-285750" algn="just">
              <a:lnSpc>
                <a:spcPct val="150000"/>
              </a:lnSpc>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Mobile Application Development:</a:t>
            </a:r>
            <a:r>
              <a:rPr lang="en-IN" dirty="0">
                <a:latin typeface="Times New Roman" panose="02020603050405020304" pitchFamily="18" charset="0"/>
                <a:cs typeface="Times New Roman" panose="02020603050405020304" pitchFamily="18" charset="0"/>
              </a:rPr>
              <a:t> Develop a mobile application for convenient expense tracking and budget management.</a:t>
            </a:r>
          </a:p>
          <a:p>
            <a:pPr marL="285750" lvl="0" indent="-285750" algn="just">
              <a:lnSpc>
                <a:spcPct val="150000"/>
              </a:lnSpc>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Intelligent Savings Optimization:</a:t>
            </a:r>
            <a:r>
              <a:rPr lang="en-IN" dirty="0">
                <a:latin typeface="Times New Roman" panose="02020603050405020304" pitchFamily="18" charset="0"/>
                <a:cs typeface="Times New Roman" panose="02020603050405020304" pitchFamily="18" charset="0"/>
              </a:rPr>
              <a:t> Introduce advanced algorithms to optimize savings contributions based on financial goals and available allowances.</a:t>
            </a:r>
          </a:p>
          <a:p>
            <a:pPr marL="285750" lvl="0" indent="-285750" algn="just">
              <a:lnSpc>
                <a:spcPct val="150000"/>
              </a:lnSpc>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Advanced Financial Risk Analysis:</a:t>
            </a:r>
            <a:r>
              <a:rPr lang="en-IN" dirty="0">
                <a:latin typeface="Times New Roman" panose="02020603050405020304" pitchFamily="18" charset="0"/>
                <a:cs typeface="Times New Roman" panose="02020603050405020304" pitchFamily="18" charset="0"/>
              </a:rPr>
              <a:t> Enhance budget simulations to predict financial shortages and recommend suitable recovery strategies.</a:t>
            </a:r>
          </a:p>
          <a:p>
            <a:pPr>
              <a:lnSpc>
                <a:spcPct val="150000"/>
              </a:lnSpc>
            </a:pP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6713394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624F57-C94D-8A64-8313-810344450DC1}"/>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49CE47F1-FB26-4C0D-9ACD-116106D37CE3}"/>
              </a:ext>
            </a:extLst>
          </p:cNvPr>
          <p:cNvPicPr>
            <a:picLocks noChangeAspect="1"/>
          </p:cNvPicPr>
          <p:nvPr/>
        </p:nvPicPr>
        <p:blipFill>
          <a:blip r:embed="rId2"/>
          <a:stretch>
            <a:fillRect/>
          </a:stretch>
        </p:blipFill>
        <p:spPr>
          <a:xfrm>
            <a:off x="495764" y="205558"/>
            <a:ext cx="1114361" cy="1293043"/>
          </a:xfrm>
          <a:prstGeom prst="rect">
            <a:avLst/>
          </a:prstGeom>
        </p:spPr>
      </p:pic>
      <p:pic>
        <p:nvPicPr>
          <p:cNvPr id="3" name="Picture 2">
            <a:extLst>
              <a:ext uri="{FF2B5EF4-FFF2-40B4-BE49-F238E27FC236}">
                <a16:creationId xmlns:a16="http://schemas.microsoft.com/office/drawing/2014/main" id="{4C0346D0-D3EF-DF4D-DD98-AE1FE88E3796}"/>
              </a:ext>
            </a:extLst>
          </p:cNvPr>
          <p:cNvPicPr>
            <a:picLocks noChangeAspect="1"/>
          </p:cNvPicPr>
          <p:nvPr/>
        </p:nvPicPr>
        <p:blipFill>
          <a:blip r:embed="rId3"/>
          <a:stretch>
            <a:fillRect/>
          </a:stretch>
        </p:blipFill>
        <p:spPr>
          <a:xfrm>
            <a:off x="10551008" y="228690"/>
            <a:ext cx="1348892" cy="1199972"/>
          </a:xfrm>
          <a:prstGeom prst="rect">
            <a:avLst/>
          </a:prstGeom>
        </p:spPr>
      </p:pic>
      <p:pic>
        <p:nvPicPr>
          <p:cNvPr id="10" name="Picture 2" descr="Thank you&#10;&#10;AI-generated content may be incorrect.">
            <a:extLst>
              <a:ext uri="{FF2B5EF4-FFF2-40B4-BE49-F238E27FC236}">
                <a16:creationId xmlns:a16="http://schemas.microsoft.com/office/drawing/2014/main" id="{F75D5204-4B78-0A5E-FD15-32416886EBF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14732" y="1327659"/>
            <a:ext cx="8931215" cy="420268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5080484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348</TotalTime>
  <Words>1303</Words>
  <Application>Microsoft Office PowerPoint</Application>
  <PresentationFormat>Widescreen</PresentationFormat>
  <Paragraphs>107</Paragraphs>
  <Slides>23</Slides>
  <Notes>1</Notes>
  <HiddenSlides>0</HiddenSlides>
  <MMClips>0</MMClips>
  <ScaleCrop>false</ScaleCrop>
  <HeadingPairs>
    <vt:vector size="4" baseType="variant">
      <vt:variant>
        <vt:lpstr>Theme</vt:lpstr>
      </vt:variant>
      <vt:variant>
        <vt:i4>1</vt:i4>
      </vt:variant>
      <vt:variant>
        <vt:lpstr>Slide Titles</vt:lpstr>
      </vt:variant>
      <vt:variant>
        <vt:i4>23</vt:i4>
      </vt:variant>
    </vt:vector>
  </HeadingPairs>
  <TitlesOfParts>
    <vt:vector size="24"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Hemalakshmi H</dc:creator>
  <cp:lastModifiedBy>dharshinih1806@gmail.com</cp:lastModifiedBy>
  <cp:revision>4</cp:revision>
  <dcterms:created xsi:type="dcterms:W3CDTF">2026-05-23T18:11:44Z</dcterms:created>
  <dcterms:modified xsi:type="dcterms:W3CDTF">2026-10-26T04:19:27Z</dcterms:modified>
</cp:coreProperties>
</file>